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596B7A4-E20A-43F2-857A-220EE4555393}">
  <a:tblStyle styleId="{D596B7A4-E20A-43F2-857A-220EE455539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LIDES_API1258792158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LIDES_API1258792158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SLIDES_API1258792158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SLIDES_API1258792158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SLIDES_API1258792158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SLIDES_API1258792158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SLIDES_API1258792158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SLIDES_API1258792158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762358750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d762358750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762358750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762358750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SLIDES_API1258792158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SLIDES_API1258792158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SLIDES_API1258792158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SLIDES_API1258792158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SLIDES_API1258792158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SLIDES_API1258792158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635000" y="1382702"/>
            <a:ext cx="78741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3200">
                <a:solidFill>
                  <a:srgbClr val="2C3E50"/>
                </a:solidFill>
              </a:rPr>
              <a:t>Gestão Segura de Dependências de Software</a:t>
            </a:r>
            <a:endParaRPr b="1" sz="3200">
              <a:solidFill>
                <a:srgbClr val="2C3E50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635000" y="2684662"/>
            <a:ext cx="78741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rgbClr val="2C3E50"/>
                </a:solidFill>
              </a:rPr>
              <a:t>Análise de Práticas, Ferramentas e Falhas no Ecossistema NPM</a:t>
            </a:r>
            <a:endParaRPr sz="1800">
              <a:solidFill>
                <a:srgbClr val="2C3E50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635000" y="3609828"/>
            <a:ext cx="78741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200">
                <a:solidFill>
                  <a:schemeClr val="dk1"/>
                </a:solidFill>
              </a:rPr>
              <a:t>Júlio Lacerda, Nº 128923 </a:t>
            </a:r>
            <a:br>
              <a:rPr lang="pt-BR" sz="1200">
                <a:solidFill>
                  <a:schemeClr val="dk1"/>
                </a:solidFill>
              </a:rPr>
            </a:br>
            <a:r>
              <a:rPr lang="pt-BR" sz="1200">
                <a:solidFill>
                  <a:schemeClr val="dk1"/>
                </a:solidFill>
              </a:rPr>
              <a:t>Silvio Romano B. Neto, Nº 135603 </a:t>
            </a:r>
            <a:br>
              <a:rPr lang="pt-BR" sz="1200">
                <a:solidFill>
                  <a:schemeClr val="dk1"/>
                </a:solidFill>
              </a:rPr>
            </a:br>
            <a:r>
              <a:rPr lang="pt-BR" sz="1200">
                <a:solidFill>
                  <a:schemeClr val="dk1"/>
                </a:solidFill>
              </a:rPr>
              <a:t>Sergio Eduardo D. Oliveira, Nº 136477 </a:t>
            </a:r>
            <a:br>
              <a:rPr lang="pt-BR" sz="1200">
                <a:solidFill>
                  <a:schemeClr val="dk1"/>
                </a:solidFill>
              </a:rPr>
            </a:br>
            <a:r>
              <a:rPr lang="pt-BR" sz="1200">
                <a:solidFill>
                  <a:schemeClr val="dk1"/>
                </a:solidFill>
              </a:rPr>
              <a:t>Pedro Rafael Felicio da Conceição, Nº 135165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7F8C8D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635000" y="5461000"/>
            <a:ext cx="7874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pt-BR" sz="1300">
                <a:solidFill>
                  <a:srgbClr val="2C3E50"/>
                </a:solidFill>
              </a:rPr>
              <a:t>[Nomes dos autores]</a:t>
            </a:r>
            <a:endParaRPr i="1" sz="1300">
              <a:solidFill>
                <a:srgbClr val="2C3E50"/>
              </a:solidFill>
            </a:endParaRPr>
          </a:p>
        </p:txBody>
      </p:sp>
      <p:pic>
        <p:nvPicPr>
          <p:cNvPr id="58" name="Google Shape;5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6214" y="189475"/>
            <a:ext cx="1505711" cy="75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/>
        </p:nvSpPr>
        <p:spPr>
          <a:xfrm>
            <a:off x="381000" y="228600"/>
            <a:ext cx="83820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600">
                <a:solidFill>
                  <a:srgbClr val="2C3E50"/>
                </a:solidFill>
              </a:rPr>
              <a:t>Ataques de Supply Chain em npm</a:t>
            </a:r>
            <a:endParaRPr b="1" sz="2600">
              <a:solidFill>
                <a:srgbClr val="2C3E50"/>
              </a:solidFill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635000" y="1140897"/>
            <a:ext cx="7874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2C3E50"/>
                </a:solidFill>
              </a:rPr>
              <a:t>Um ataque de supply chain ocorre quando código malicioso é injectado numa dependência, executando durante o npm install sem conhecimento do programador.</a:t>
            </a:r>
            <a:endParaRPr>
              <a:solidFill>
                <a:srgbClr val="2C3E50"/>
              </a:solidFill>
            </a:endParaRPr>
          </a:p>
        </p:txBody>
      </p:sp>
      <p:graphicFrame>
        <p:nvGraphicFramePr>
          <p:cNvPr id="65" name="Google Shape;65;p14"/>
          <p:cNvGraphicFramePr/>
          <p:nvPr/>
        </p:nvGraphicFramePr>
        <p:xfrm>
          <a:off x="635000" y="2032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{D596B7A4-E20A-43F2-857A-220EE4555393}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635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>
                          <a:solidFill>
                            <a:srgbClr val="FFFFFF"/>
                          </a:solidFill>
                        </a:rPr>
                        <a:t>Caso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>
                          <a:solidFill>
                            <a:srgbClr val="FFFFFF"/>
                          </a:solidFill>
                        </a:rPr>
                        <a:t>Ano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>
                          <a:solidFill>
                            <a:srgbClr val="FFFFFF"/>
                          </a:solidFill>
                        </a:rPr>
                        <a:t>Downloads afectados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>
                          <a:solidFill>
                            <a:srgbClr val="FFFFFF"/>
                          </a:solidFill>
                        </a:rPr>
                        <a:t>Impacto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C3E50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event-stream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2018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2M/semana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payload visava carteiras Bitcoin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635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ua-parser-js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2021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8M/semana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cryptominer injectado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635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colors/faker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2022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Milhões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sabotagem deliberada pelo maintainer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66" name="Google Shape;66;p14"/>
          <p:cNvSpPr txBox="1"/>
          <p:nvPr/>
        </p:nvSpPr>
        <p:spPr>
          <a:xfrm>
            <a:off x="381000" y="6121400"/>
            <a:ext cx="83820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pt-BR" sz="1100">
                <a:solidFill>
                  <a:srgbClr val="2C3E50"/>
                </a:solidFill>
              </a:rPr>
              <a:t>"Um npm install típico instala dezenas de pacotes transitivos que ninguém audita manualmente."</a:t>
            </a:r>
            <a:endParaRPr i="1" sz="1100">
              <a:solidFill>
                <a:srgbClr val="2C3E50"/>
              </a:solidFill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6214" y="189475"/>
            <a:ext cx="1505711" cy="75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/>
          <p:nvPr/>
        </p:nvSpPr>
        <p:spPr>
          <a:xfrm>
            <a:off x="381000" y="228600"/>
            <a:ext cx="83820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600">
                <a:solidFill>
                  <a:srgbClr val="2C3E50"/>
                </a:solidFill>
              </a:rPr>
              <a:t>Cenário: PME de Telecomunicações</a:t>
            </a:r>
            <a:endParaRPr b="1" sz="2600">
              <a:solidFill>
                <a:srgbClr val="2C3E50"/>
              </a:solidFill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889000" y="1397000"/>
            <a:ext cx="73659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rgbClr val="2C3E50"/>
                </a:solidFill>
              </a:rPr>
              <a:t>• Aplicação fictícia: VoIP Manager API = Express + SQLite + JWT</a:t>
            </a:r>
            <a:endParaRPr sz="1600">
              <a:solidFill>
                <a:srgbClr val="2C3E50"/>
              </a:solidFill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rgbClr val="2C3E50"/>
                </a:solidFill>
              </a:rPr>
              <a:t>• Função: gere extensões SIP, troncos e registos de chamadas (CDR)</a:t>
            </a:r>
            <a:endParaRPr sz="1600">
              <a:solidFill>
                <a:srgbClr val="2C3E50"/>
              </a:solidFill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rgbClr val="2C3E50"/>
                </a:solidFill>
              </a:rPr>
              <a:t>• Stack Node.js — representativo do ec</a:t>
            </a:r>
            <a:r>
              <a:rPr lang="pt-BR" sz="1600">
                <a:solidFill>
                  <a:srgbClr val="2C3E50"/>
                </a:solidFill>
              </a:rPr>
              <a:t>o</a:t>
            </a:r>
            <a:r>
              <a:rPr lang="pt-BR" sz="1600">
                <a:solidFill>
                  <a:srgbClr val="2C3E50"/>
                </a:solidFill>
              </a:rPr>
              <a:t>ssistema NPM</a:t>
            </a:r>
            <a:endParaRPr sz="1600">
              <a:solidFill>
                <a:srgbClr val="2C3E50"/>
              </a:solidFill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635000" y="3810000"/>
            <a:ext cx="78741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00">
                <a:solidFill>
                  <a:srgbClr val="2C3E50"/>
                </a:solidFill>
              </a:rPr>
              <a:t>"Como se protege uma PME destes ataques?"</a:t>
            </a:r>
            <a:endParaRPr b="1" sz="1800">
              <a:solidFill>
                <a:srgbClr val="2C3E50"/>
              </a:solidFill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6214" y="189475"/>
            <a:ext cx="1505711" cy="75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381000" y="228600"/>
            <a:ext cx="83820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600">
                <a:solidFill>
                  <a:srgbClr val="2C3E50"/>
                </a:solidFill>
              </a:rPr>
              <a:t>Duas Ameaças Testadas no Laboratório</a:t>
            </a:r>
            <a:endParaRPr b="1" sz="2600">
              <a:solidFill>
                <a:srgbClr val="2C3E50"/>
              </a:solidFill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508000" y="1397000"/>
            <a:ext cx="3810000" cy="2793900"/>
          </a:xfrm>
          <a:prstGeom prst="rect">
            <a:avLst/>
          </a:prstGeom>
          <a:solidFill>
            <a:srgbClr val="FDF2F2"/>
          </a:solidFill>
          <a:ln cap="flat" cmpd="sng" w="9525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rgbClr val="2C3E50"/>
                </a:solidFill>
              </a:rPr>
              <a:t>lodash@4.17.11</a:t>
            </a:r>
            <a:endParaRPr sz="1500">
              <a:solidFill>
                <a:srgbClr val="2C3E5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rgbClr val="2C3E50"/>
                </a:solidFill>
              </a:rPr>
              <a:t>• CVE conhecido — CVSS 9.1</a:t>
            </a:r>
            <a:endParaRPr sz="1500">
              <a:solidFill>
                <a:srgbClr val="2C3E5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rgbClr val="2C3E50"/>
                </a:solidFill>
              </a:rPr>
              <a:t>• 7 advisories publicados</a:t>
            </a:r>
            <a:endParaRPr sz="1500">
              <a:solidFill>
                <a:srgbClr val="2C3E5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rgbClr val="2C3E50"/>
                </a:solidFill>
              </a:rPr>
              <a:t>• Ameaça convencional</a:t>
            </a:r>
            <a:endParaRPr sz="1500">
              <a:solidFill>
                <a:srgbClr val="2C3E50"/>
              </a:solidFill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4826000" y="1397000"/>
            <a:ext cx="3810000" cy="2793900"/>
          </a:xfrm>
          <a:prstGeom prst="rect">
            <a:avLst/>
          </a:prstGeom>
          <a:solidFill>
            <a:srgbClr val="FDF2F2"/>
          </a:solidFill>
          <a:ln cap="flat" cmpd="sng" w="9525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rgbClr val="2C3E50"/>
                </a:solidFill>
              </a:rPr>
              <a:t>@demo-lab/supply-chain-demo</a:t>
            </a:r>
            <a:endParaRPr sz="1500">
              <a:solidFill>
                <a:srgbClr val="2C3E5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rgbClr val="2C3E50"/>
                </a:solidFill>
              </a:rPr>
              <a:t>• Sem CVE registado</a:t>
            </a:r>
            <a:endParaRPr sz="1500">
              <a:solidFill>
                <a:srgbClr val="2C3E5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rgbClr val="2C3E50"/>
                </a:solidFill>
              </a:rPr>
              <a:t>• postinstall exfiltra variáveis de ambiente via HTTP POST</a:t>
            </a:r>
            <a:endParaRPr sz="1500">
              <a:solidFill>
                <a:srgbClr val="2C3E5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rgbClr val="2C3E50"/>
                </a:solidFill>
              </a:rPr>
              <a:t>• Ataque zero-day</a:t>
            </a:r>
            <a:endParaRPr sz="1500">
              <a:solidFill>
                <a:srgbClr val="2C3E50"/>
              </a:solidFill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381000" y="6121400"/>
            <a:ext cx="83820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pt-BR" sz="1100">
                <a:solidFill>
                  <a:srgbClr val="2C3E50"/>
                </a:solidFill>
              </a:rPr>
              <a:t>"Duas ameaças ortogonais: uma testável por base de dados, outra invisível a qualquer CVE."</a:t>
            </a:r>
            <a:endParaRPr i="1" sz="1100">
              <a:solidFill>
                <a:srgbClr val="2C3E50"/>
              </a:solidFill>
            </a:endParaRPr>
          </a:p>
        </p:txBody>
      </p:sp>
      <p:pic>
        <p:nvPicPr>
          <p:cNvPr id="84" name="Google Shape;8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6214" y="189475"/>
            <a:ext cx="1505711" cy="75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/>
        </p:nvSpPr>
        <p:spPr>
          <a:xfrm>
            <a:off x="381000" y="228600"/>
            <a:ext cx="83820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600">
                <a:solidFill>
                  <a:srgbClr val="2C3E50"/>
                </a:solidFill>
              </a:rPr>
              <a:t>Arquitetura</a:t>
            </a:r>
            <a:r>
              <a:rPr b="1" lang="pt-BR" sz="2600">
                <a:solidFill>
                  <a:srgbClr val="2C3E50"/>
                </a:solidFill>
              </a:rPr>
              <a:t> do Laboratório</a:t>
            </a:r>
            <a:endParaRPr b="1" sz="2600">
              <a:solidFill>
                <a:srgbClr val="2C3E50"/>
              </a:solidFill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381000" y="6121400"/>
            <a:ext cx="83820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pt-BR" sz="1100">
                <a:solidFill>
                  <a:srgbClr val="2C3E50"/>
                </a:solidFill>
              </a:rPr>
              <a:t>"Duas ameaças ortogonais: uma testável por base de dados, outra invisível a qualquer CVE."</a:t>
            </a:r>
            <a:endParaRPr i="1" sz="1100">
              <a:solidFill>
                <a:srgbClr val="2C3E50"/>
              </a:solidFill>
            </a:endParaRPr>
          </a:p>
        </p:txBody>
      </p:sp>
      <p:pic>
        <p:nvPicPr>
          <p:cNvPr id="91" name="Google Shape;9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6214" y="189475"/>
            <a:ext cx="1505711" cy="75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7" title="Untitled diagram-2026-04-19-22115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12650" y="1035900"/>
            <a:ext cx="5551923" cy="3955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/>
        </p:nvSpPr>
        <p:spPr>
          <a:xfrm>
            <a:off x="381000" y="228600"/>
            <a:ext cx="83820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600">
                <a:solidFill>
                  <a:srgbClr val="2C3E50"/>
                </a:solidFill>
              </a:rPr>
              <a:t>Resultados do Laboratório</a:t>
            </a:r>
            <a:endParaRPr b="1" sz="2600">
              <a:solidFill>
                <a:srgbClr val="2C3E50"/>
              </a:solidFill>
            </a:endParaRPr>
          </a:p>
        </p:txBody>
      </p:sp>
      <p:graphicFrame>
        <p:nvGraphicFramePr>
          <p:cNvPr id="98" name="Google Shape;98;p18"/>
          <p:cNvGraphicFramePr/>
          <p:nvPr/>
        </p:nvGraphicFramePr>
        <p:xfrm>
          <a:off x="381000" y="927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{D596B7A4-E20A-43F2-857A-220EE4555393}</a:tableStyleId>
              </a:tblPr>
              <a:tblGrid>
                <a:gridCol w="1401625"/>
                <a:gridCol w="1083700"/>
                <a:gridCol w="2151000"/>
                <a:gridCol w="970175"/>
                <a:gridCol w="1401625"/>
              </a:tblGrid>
              <a:tr h="294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000">
                          <a:solidFill>
                            <a:srgbClr val="FFFFFF"/>
                          </a:solidFill>
                        </a:rPr>
                        <a:t>Teste</a:t>
                      </a:r>
                      <a:endParaRPr b="1" sz="10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000">
                          <a:solidFill>
                            <a:srgbClr val="FFFFFF"/>
                          </a:solidFill>
                        </a:rPr>
                        <a:t>Ferramenta</a:t>
                      </a:r>
                      <a:endParaRPr b="1" sz="10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000">
                          <a:solidFill>
                            <a:srgbClr val="FFFFFF"/>
                          </a:solidFill>
                        </a:rPr>
                        <a:t>O que testa</a:t>
                      </a:r>
                      <a:endParaRPr b="1" sz="10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000">
                          <a:solidFill>
                            <a:srgbClr val="FFFFFF"/>
                          </a:solidFill>
                        </a:rPr>
                        <a:t>lodash CVE</a:t>
                      </a:r>
                      <a:endParaRPr b="1" sz="10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000">
                          <a:solidFill>
                            <a:srgbClr val="FFFFFF"/>
                          </a:solidFill>
                        </a:rPr>
                        <a:t>Zero-day</a:t>
                      </a:r>
                      <a:endParaRPr b="1" sz="10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C3E50"/>
                    </a:solidFill>
                  </a:tcPr>
                </a:tc>
              </a:tr>
              <a:tr h="453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T1: Baseline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npm install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Comportamento padrão sem proteção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-2921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C3E50"/>
                        </a:buClr>
                        <a:buSzPts val="1000"/>
                        <a:buChar char="-"/>
                      </a:pPr>
                      <a:r>
                        <a:t/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Executou script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79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T2: Inventário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Syft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Gera </a:t>
                      </a: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SBOM com as dependências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inventariado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inventariado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453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T3a: SCA nativo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npm audit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Auditoria reativa via base npm Advisory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7 CVEs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C0392B"/>
                          </a:solidFill>
                        </a:rPr>
                        <a:t>não detectado</a:t>
                      </a:r>
                      <a:endParaRPr sz="1000">
                        <a:solidFill>
                          <a:srgbClr val="C0392B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453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T3b: SCA open source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OSV Scanner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Auditoria via lockfile e SBOM (Google OSV)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7 CVEs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C0392B"/>
                          </a:solidFill>
                        </a:rPr>
                        <a:t>não detectado</a:t>
                      </a:r>
                      <a:endParaRPr sz="1000">
                        <a:solidFill>
                          <a:srgbClr val="C0392B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453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T3c: SCA comercial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Snyk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Auditoria via DB proprietária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9 CVEs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C0392B"/>
                          </a:solidFill>
                        </a:rPr>
                        <a:t>não detectado</a:t>
                      </a:r>
                      <a:endParaRPr sz="1000">
                        <a:solidFill>
                          <a:srgbClr val="C0392B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453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T4: Comportamental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Socket.dev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Analisa padrões suspeitos em pacotes públicos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7 CVEs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C0392B"/>
                          </a:solidFill>
                        </a:rPr>
                        <a:t>não detectado *</a:t>
                      </a:r>
                      <a:endParaRPr sz="1000">
                        <a:solidFill>
                          <a:srgbClr val="C0392B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453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T5: Arquitetural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pnpm v10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Bloqueia lifecycle scripts por defeito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instalado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000">
                          <a:solidFill>
                            <a:srgbClr val="27AE60"/>
                          </a:solidFill>
                        </a:rPr>
                        <a:t>BLOQUEADO</a:t>
                      </a:r>
                      <a:endParaRPr b="1" sz="1000">
                        <a:solidFill>
                          <a:srgbClr val="27AE60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D5F5E3"/>
                    </a:solidFill>
                  </a:tcPr>
                </a:tc>
              </a:tr>
              <a:tr h="453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T6: Monitorização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Dependency-Track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Alertas via SBOM sem novo scan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2C3E50"/>
                          </a:solidFill>
                        </a:rPr>
                        <a:t>7 CVEs</a:t>
                      </a:r>
                      <a:endParaRPr sz="10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>
                          <a:solidFill>
                            <a:srgbClr val="C0392B"/>
                          </a:solidFill>
                        </a:rPr>
                        <a:t>não detectado</a:t>
                      </a:r>
                      <a:endParaRPr sz="1000">
                        <a:solidFill>
                          <a:srgbClr val="C0392B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99" name="Google Shape;99;p18"/>
          <p:cNvSpPr txBox="1"/>
          <p:nvPr/>
        </p:nvSpPr>
        <p:spPr>
          <a:xfrm>
            <a:off x="7513425" y="2309800"/>
            <a:ext cx="1505700" cy="14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pt-BR" sz="1100">
                <a:solidFill>
                  <a:srgbClr val="2C3E50"/>
                </a:solidFill>
              </a:rPr>
              <a:t>* Socket.dev: limitado a pacotes do registry público. O pacote demo estava num Verdaccio privado.</a:t>
            </a:r>
            <a:endParaRPr i="1" sz="1100">
              <a:solidFill>
                <a:srgbClr val="2C3E50"/>
              </a:solidFill>
            </a:endParaRPr>
          </a:p>
        </p:txBody>
      </p:sp>
      <p:pic>
        <p:nvPicPr>
          <p:cNvPr id="100" name="Google Shape;10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6214" y="189475"/>
            <a:ext cx="1505711" cy="758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18"/>
          <p:cNvCxnSpPr/>
          <p:nvPr/>
        </p:nvCxnSpPr>
        <p:spPr>
          <a:xfrm flipH="1" rot="10800000">
            <a:off x="7232700" y="3372150"/>
            <a:ext cx="488100" cy="4656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/>
          <p:nvPr/>
        </p:nvSpPr>
        <p:spPr>
          <a:xfrm>
            <a:off x="381000" y="228600"/>
            <a:ext cx="83820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600">
                <a:solidFill>
                  <a:srgbClr val="2C3E50"/>
                </a:solidFill>
              </a:rPr>
              <a:t>Do Laboratório ao Protótipo </a:t>
            </a:r>
            <a:br>
              <a:rPr b="1" lang="pt-BR" sz="2600">
                <a:solidFill>
                  <a:srgbClr val="2C3E50"/>
                </a:solidFill>
              </a:rPr>
            </a:br>
            <a:r>
              <a:rPr b="1" lang="pt-BR" sz="2100">
                <a:solidFill>
                  <a:srgbClr val="2C3E50"/>
                </a:solidFill>
              </a:rPr>
              <a:t>Pipeline em 3 Camadas</a:t>
            </a:r>
            <a:endParaRPr b="1" sz="2100">
              <a:solidFill>
                <a:srgbClr val="2C3E50"/>
              </a:solidFill>
            </a:endParaRPr>
          </a:p>
        </p:txBody>
      </p:sp>
      <p:graphicFrame>
        <p:nvGraphicFramePr>
          <p:cNvPr id="107" name="Google Shape;107;p19"/>
          <p:cNvGraphicFramePr/>
          <p:nvPr/>
        </p:nvGraphicFramePr>
        <p:xfrm>
          <a:off x="635000" y="1397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{D596B7A4-E20A-43F2-857A-220EE4555393}</a:tableStyleId>
              </a:tblPr>
              <a:tblGrid>
                <a:gridCol w="2624675"/>
                <a:gridCol w="2624675"/>
                <a:gridCol w="2624675"/>
              </a:tblGrid>
              <a:tr h="698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>
                          <a:solidFill>
                            <a:srgbClr val="FFFFFF"/>
                          </a:solidFill>
                        </a:rPr>
                        <a:t>Camada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>
                          <a:solidFill>
                            <a:srgbClr val="FFFFFF"/>
                          </a:solidFill>
                        </a:rPr>
                        <a:t>Ferramenta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>
                          <a:solidFill>
                            <a:srgbClr val="FFFFFF"/>
                          </a:solidFill>
                        </a:rPr>
                        <a:t>Evidência do lab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C3E50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>
                          <a:solidFill>
                            <a:srgbClr val="FFFFFF"/>
                          </a:solidFill>
                        </a:rPr>
                        <a:t>Prevenir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pnpm --ignore-scripts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T5 — único a bloquear o zero-day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698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>
                          <a:solidFill>
                            <a:srgbClr val="FFFFFF"/>
                          </a:solidFill>
                        </a:rPr>
                        <a:t>Detectar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OSV Scanner + Syft SBOM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T3b — open source, gratuito, multi-fonte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698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>
                          <a:solidFill>
                            <a:srgbClr val="FFFFFF"/>
                          </a:solidFill>
                        </a:rPr>
                        <a:t>Monitorizar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Dependency-Track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2C3E50"/>
                          </a:solidFill>
                        </a:rPr>
                        <a:t>T6 — alertas contínuos pós-deploy</a:t>
                      </a:r>
                      <a:endParaRPr sz="1100">
                        <a:solidFill>
                          <a:srgbClr val="2C3E50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08" name="Google Shape;108;p19"/>
          <p:cNvSpPr txBox="1"/>
          <p:nvPr/>
        </p:nvSpPr>
        <p:spPr>
          <a:xfrm>
            <a:off x="635000" y="4445000"/>
            <a:ext cx="78741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2C3E50"/>
                </a:solidFill>
              </a:rPr>
              <a:t>Excluídos: Snyk (freemium com limites), npm audit (substituído pelo OSV Scanner), Socket.dev (cobertura parcial em registries privados).</a:t>
            </a:r>
            <a:endParaRPr sz="1300">
              <a:solidFill>
                <a:srgbClr val="2C3E50"/>
              </a:solidFill>
            </a:endParaRPr>
          </a:p>
        </p:txBody>
      </p:sp>
      <p:pic>
        <p:nvPicPr>
          <p:cNvPr id="109" name="Google Shape;10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6214" y="189475"/>
            <a:ext cx="1505711" cy="75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/>
        </p:nvSpPr>
        <p:spPr>
          <a:xfrm>
            <a:off x="381000" y="228600"/>
            <a:ext cx="83820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600">
                <a:solidFill>
                  <a:srgbClr val="2C3E50"/>
                </a:solidFill>
              </a:rPr>
              <a:t>Demonstração: Pipeline em Acção</a:t>
            </a:r>
            <a:endParaRPr b="1" sz="2600">
              <a:solidFill>
                <a:srgbClr val="2C3E50"/>
              </a:solidFill>
            </a:endParaRPr>
          </a:p>
        </p:txBody>
      </p:sp>
      <p:sp>
        <p:nvSpPr>
          <p:cNvPr id="115" name="Google Shape;115;p20"/>
          <p:cNvSpPr txBox="1"/>
          <p:nvPr/>
        </p:nvSpPr>
        <p:spPr>
          <a:xfrm>
            <a:off x="635000" y="1143000"/>
            <a:ext cx="7874100" cy="10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C3E50"/>
              </a:solidFill>
            </a:endParaRPr>
          </a:p>
        </p:txBody>
      </p:sp>
      <p:sp>
        <p:nvSpPr>
          <p:cNvPr id="116" name="Google Shape;116;p20"/>
          <p:cNvSpPr txBox="1"/>
          <p:nvPr/>
        </p:nvSpPr>
        <p:spPr>
          <a:xfrm>
            <a:off x="525325" y="2457825"/>
            <a:ext cx="7874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pt-BR" sz="1200">
                <a:solidFill>
                  <a:srgbClr val="7F8C8D"/>
                </a:solidFill>
              </a:rPr>
              <a:t>[ Gravação de ecrã com demonstração das pipelines no Github ]</a:t>
            </a:r>
            <a:endParaRPr i="1" sz="1200">
              <a:solidFill>
                <a:srgbClr val="7F8C8D"/>
              </a:solidFill>
            </a:endParaRPr>
          </a:p>
        </p:txBody>
      </p:sp>
      <p:pic>
        <p:nvPicPr>
          <p:cNvPr id="117" name="Google Shape;11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6214" y="189475"/>
            <a:ext cx="1505711" cy="75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/>
        </p:nvSpPr>
        <p:spPr>
          <a:xfrm>
            <a:off x="381000" y="228600"/>
            <a:ext cx="83820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600">
                <a:solidFill>
                  <a:srgbClr val="2C3E50"/>
                </a:solidFill>
              </a:rPr>
              <a:t>Conclusões</a:t>
            </a:r>
            <a:endParaRPr b="1" sz="2600">
              <a:solidFill>
                <a:srgbClr val="2C3E50"/>
              </a:solidFill>
            </a:endParaRPr>
          </a:p>
        </p:txBody>
      </p:sp>
      <p:sp>
        <p:nvSpPr>
          <p:cNvPr id="123" name="Google Shape;123;p21"/>
          <p:cNvSpPr txBox="1"/>
          <p:nvPr/>
        </p:nvSpPr>
        <p:spPr>
          <a:xfrm>
            <a:off x="635000" y="1143000"/>
            <a:ext cx="7874100" cy="27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rgbClr val="2C3E50"/>
                </a:solidFill>
              </a:rPr>
              <a:t>• Ferramentas reativas são necessárias mas insuficientes: todas falharam contra o ataque sem CVE registado</a:t>
            </a:r>
            <a:endParaRPr sz="1500">
              <a:solidFill>
                <a:srgbClr val="2C3E50"/>
              </a:solidFill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2C3E50"/>
              </a:solidFill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rgbClr val="2C3E50"/>
                </a:solidFill>
              </a:rPr>
              <a:t>• A prevenção arquitectural é a única protecção eficaz contra ataques zero-day: pnpm bloqueou sem base de dados nem configuração adicional</a:t>
            </a:r>
            <a:endParaRPr sz="1500">
              <a:solidFill>
                <a:srgbClr val="2C3E50"/>
              </a:solidFill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2C3E50"/>
              </a:solidFill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rgbClr val="2C3E50"/>
                </a:solidFill>
              </a:rPr>
              <a:t>• Defesa em profundidade significa camadas complementares, não acumulação de ferramentas</a:t>
            </a:r>
            <a:endParaRPr sz="1500">
              <a:solidFill>
                <a:srgbClr val="2C3E50"/>
              </a:solidFill>
            </a:endParaRPr>
          </a:p>
        </p:txBody>
      </p:sp>
      <p:cxnSp>
        <p:nvCxnSpPr>
          <p:cNvPr id="124" name="Google Shape;124;p21"/>
          <p:cNvCxnSpPr/>
          <p:nvPr/>
        </p:nvCxnSpPr>
        <p:spPr>
          <a:xfrm>
            <a:off x="635000" y="4191000"/>
            <a:ext cx="7874100" cy="0"/>
          </a:xfrm>
          <a:prstGeom prst="straightConnector1">
            <a:avLst/>
          </a:prstGeom>
          <a:noFill/>
          <a:ln cap="flat" cmpd="sng" w="9525">
            <a:solidFill>
              <a:srgbClr val="BDC3C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5" name="Google Shape;125;p21"/>
          <p:cNvSpPr txBox="1"/>
          <p:nvPr/>
        </p:nvSpPr>
        <p:spPr>
          <a:xfrm>
            <a:off x="634950" y="4371425"/>
            <a:ext cx="7874100" cy="6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>
                <a:solidFill>
                  <a:srgbClr val="2C3E50"/>
                </a:solidFill>
              </a:rPr>
              <a:t>"Não existe ferramenta única suficiente.</a:t>
            </a:r>
            <a:endParaRPr b="1">
              <a:solidFill>
                <a:srgbClr val="2C3E5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>
                <a:solidFill>
                  <a:srgbClr val="2C3E50"/>
                </a:solidFill>
              </a:rPr>
              <a:t>A resposta certa é prevenir, detectar e monitorizar — em camadas."</a:t>
            </a:r>
            <a:endParaRPr b="1">
              <a:solidFill>
                <a:srgbClr val="2C3E50"/>
              </a:solidFill>
            </a:endParaRPr>
          </a:p>
        </p:txBody>
      </p:sp>
      <p:pic>
        <p:nvPicPr>
          <p:cNvPr id="126" name="Google Shape;12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6214" y="189475"/>
            <a:ext cx="1505711" cy="75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
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68" r:id="rId2"/>
    <p:sldId id="269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A3CEF5-C26A-3F9B-3AF2-9865A1F427A9}" v="64" dt="2026-04-23T12:28:01.678"/>
    <p1510:client id="{43861A5C-79BE-97F7-77C0-AE08A2E2E703}" v="3" dt="2026-04-22T17:14:57.230"/>
    <p1510:client id="{E04D922A-A7EC-68CF-C5B5-7C3A554C5023}" v="1" dt="2026-04-21T12:52:20.969"/>
  </p1510:revLst>
</p1510:revInfo>
</file>

<file path=ppt/tableStyles.xml><?xml version="1.0" encoding="utf-8"?>
<a:tblStyleLst xmlns:a="http://schemas.openxmlformats.org/drawingml/2006/main" def="{FDA03B60-1E1E-4555-96C5-48BB92776C77}">
  <a:tblStyle styleId="{FDA03B60-1E1E-4555-96C5-48BB92776C7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lvio Neto" userId="S::srbno@iscte-iul.pt::8867c39a-e733-4c05-9133-4fd97a46772c" providerId="AD" clId="Web-{16A3CEF5-C26A-3F9B-3AF2-9865A1F427A9}"/>
    <pc:docChg chg="addSld delSld modSld sldOrd">
      <pc:chgData name="Silvio Neto" userId="S::srbno@iscte-iul.pt::8867c39a-e733-4c05-9133-4fd97a46772c" providerId="AD" clId="Web-{16A3CEF5-C26A-3F9B-3AF2-9865A1F427A9}" dt="2026-04-23T12:28:01.678" v="54"/>
      <pc:docMkLst>
        <pc:docMk/>
      </pc:docMkLst>
      <pc:sldChg chg="add del ord">
        <pc:chgData name="Silvio Neto" userId="S::srbno@iscte-iul.pt::8867c39a-e733-4c05-9133-4fd97a46772c" providerId="AD" clId="Web-{16A3CEF5-C26A-3F9B-3AF2-9865A1F427A9}" dt="2026-04-23T12:27:29.596" v="53"/>
        <pc:sldMkLst>
          <pc:docMk/>
          <pc:sldMk cId="0" sldId="256"/>
        </pc:sldMkLst>
      </pc:sldChg>
      <pc:sldChg chg="del ord">
        <pc:chgData name="Silvio Neto" userId="S::srbno@iscte-iul.pt::8867c39a-e733-4c05-9133-4fd97a46772c" providerId="AD" clId="Web-{16A3CEF5-C26A-3F9B-3AF2-9865A1F427A9}" dt="2026-04-23T12:28:01.678" v="54"/>
        <pc:sldMkLst>
          <pc:docMk/>
          <pc:sldMk cId="0" sldId="257"/>
        </pc:sldMkLst>
      </pc:sldChg>
      <pc:sldChg chg="new add del">
        <pc:chgData name="Silvio Neto" userId="S::srbno@iscte-iul.pt::8867c39a-e733-4c05-9133-4fd97a46772c" providerId="AD" clId="Web-{16A3CEF5-C26A-3F9B-3AF2-9865A1F427A9}" dt="2026-04-23T12:25:13.658" v="21"/>
        <pc:sldMkLst>
          <pc:docMk/>
          <pc:sldMk cId="875079031" sldId="266"/>
        </pc:sldMkLst>
      </pc:sldChg>
      <pc:sldChg chg="new add del ord">
        <pc:chgData name="Silvio Neto" userId="S::srbno@iscte-iul.pt::8867c39a-e733-4c05-9133-4fd97a46772c" providerId="AD" clId="Web-{16A3CEF5-C26A-3F9B-3AF2-9865A1F427A9}" dt="2026-04-23T12:25:50.347" v="34"/>
        <pc:sldMkLst>
          <pc:docMk/>
          <pc:sldMk cId="4092112850" sldId="266"/>
        </pc:sldMkLst>
      </pc:sldChg>
      <pc:sldChg chg="new add del">
        <pc:chgData name="Silvio Neto" userId="S::srbno@iscte-iul.pt::8867c39a-e733-4c05-9133-4fd97a46772c" providerId="AD" clId="Web-{16A3CEF5-C26A-3F9B-3AF2-9865A1F427A9}" dt="2026-04-23T12:25:11.174" v="20"/>
        <pc:sldMkLst>
          <pc:docMk/>
          <pc:sldMk cId="859400585" sldId="267"/>
        </pc:sldMkLst>
      </pc:sldChg>
      <pc:sldChg chg="new add del ord">
        <pc:chgData name="Silvio Neto" userId="S::srbno@iscte-iul.pt::8867c39a-e733-4c05-9133-4fd97a46772c" providerId="AD" clId="Web-{16A3CEF5-C26A-3F9B-3AF2-9865A1F427A9}" dt="2026-04-23T12:25:50.347" v="33"/>
        <pc:sldMkLst>
          <pc:docMk/>
          <pc:sldMk cId="1526237218" sldId="267"/>
        </pc:sldMkLst>
      </pc:sldChg>
      <pc:sldChg chg="addSp delSp add del">
        <pc:chgData name="Silvio Neto" userId="S::srbno@iscte-iul.pt::8867c39a-e733-4c05-9133-4fd97a46772c" providerId="AD" clId="Web-{16A3CEF5-C26A-3F9B-3AF2-9865A1F427A9}" dt="2026-04-23T12:25:10.502" v="19"/>
        <pc:sldMkLst>
          <pc:docMk/>
          <pc:sldMk cId="1921364299" sldId="268"/>
        </pc:sldMkLst>
        <pc:picChg chg="add del">
          <ac:chgData name="Silvio Neto" userId="S::srbno@iscte-iul.pt::8867c39a-e733-4c05-9133-4fd97a46772c" providerId="AD" clId="Web-{16A3CEF5-C26A-3F9B-3AF2-9865A1F427A9}" dt="2026-04-23T12:25:06.002" v="15"/>
          <ac:picMkLst>
            <pc:docMk/>
            <pc:sldMk cId="1921364299" sldId="268"/>
            <ac:picMk id="3" creationId="{C1BE2C79-64A9-DCB7-688C-46C466D99922}"/>
          </ac:picMkLst>
        </pc:picChg>
      </pc:sldChg>
      <pc:sldChg chg="addSp delSp modSp add del">
        <pc:chgData name="Silvio Neto" userId="S::srbno@iscte-iul.pt::8867c39a-e733-4c05-9133-4fd97a46772c" providerId="AD" clId="Web-{16A3CEF5-C26A-3F9B-3AF2-9865A1F427A9}" dt="2026-04-23T12:27:01.099" v="49"/>
        <pc:sldMkLst>
          <pc:docMk/>
          <pc:sldMk cId="3451622965" sldId="268"/>
        </pc:sldMkLst>
        <pc:spChg chg="mod">
          <ac:chgData name="Silvio Neto" userId="S::srbno@iscte-iul.pt::8867c39a-e733-4c05-9133-4fd97a46772c" providerId="AD" clId="Web-{16A3CEF5-C26A-3F9B-3AF2-9865A1F427A9}" dt="2026-04-23T12:26:38.708" v="45" actId="20577"/>
          <ac:spMkLst>
            <pc:docMk/>
            <pc:sldMk cId="3451622965" sldId="268"/>
            <ac:spMk id="12" creationId="{00000000-0000-0000-0000-000000000000}"/>
          </ac:spMkLst>
        </pc:spChg>
        <pc:picChg chg="add">
          <ac:chgData name="Silvio Neto" userId="S::srbno@iscte-iul.pt::8867c39a-e733-4c05-9133-4fd97a46772c" providerId="AD" clId="Web-{16A3CEF5-C26A-3F9B-3AF2-9865A1F427A9}" dt="2026-04-23T12:27:01.099" v="49"/>
          <ac:picMkLst>
            <pc:docMk/>
            <pc:sldMk cId="3451622965" sldId="268"/>
            <ac:picMk id="3" creationId="{75F78F8F-806F-B2E2-E2B7-E2C5BE993D19}"/>
          </ac:picMkLst>
        </pc:picChg>
        <pc:picChg chg="del">
          <ac:chgData name="Silvio Neto" userId="S::srbno@iscte-iul.pt::8867c39a-e733-4c05-9133-4fd97a46772c" providerId="AD" clId="Web-{16A3CEF5-C26A-3F9B-3AF2-9865A1F427A9}" dt="2026-04-23T12:26:57.693" v="48"/>
          <ac:picMkLst>
            <pc:docMk/>
            <pc:sldMk cId="3451622965" sldId="268"/>
            <ac:picMk id="13" creationId="{00000000-0000-0000-0000-000000000000}"/>
          </ac:picMkLst>
        </pc:picChg>
      </pc:sldChg>
      <pc:sldChg chg="addSp delSp add ord">
        <pc:chgData name="Silvio Neto" userId="S::srbno@iscte-iul.pt::8867c39a-e733-4c05-9133-4fd97a46772c" providerId="AD" clId="Web-{16A3CEF5-C26A-3F9B-3AF2-9865A1F427A9}" dt="2026-04-23T12:27:11.381" v="52"/>
        <pc:sldMkLst>
          <pc:docMk/>
          <pc:sldMk cId="2961053625" sldId="269"/>
        </pc:sldMkLst>
        <pc:picChg chg="add">
          <ac:chgData name="Silvio Neto" userId="S::srbno@iscte-iul.pt::8867c39a-e733-4c05-9133-4fd97a46772c" providerId="AD" clId="Web-{16A3CEF5-C26A-3F9B-3AF2-9865A1F427A9}" dt="2026-04-23T12:27:08.349" v="51"/>
          <ac:picMkLst>
            <pc:docMk/>
            <pc:sldMk cId="2961053625" sldId="269"/>
            <ac:picMk id="3" creationId="{2E7AF4E8-DCEC-090E-3F9F-B19DA68F403E}"/>
          </ac:picMkLst>
        </pc:picChg>
        <pc:picChg chg="del">
          <ac:chgData name="Silvio Neto" userId="S::srbno@iscte-iul.pt::8867c39a-e733-4c05-9133-4fd97a46772c" providerId="AD" clId="Web-{16A3CEF5-C26A-3F9B-3AF2-9865A1F427A9}" dt="2026-04-23T12:27:05.786" v="50"/>
          <ac:picMkLst>
            <pc:docMk/>
            <pc:sldMk cId="2961053625" sldId="269"/>
            <ac:picMk id="36" creationId="{00000000-0000-0000-0000-000000000000}"/>
          </ac:picMkLst>
        </pc:picChg>
      </pc:sldChg>
      <pc:sldChg chg="addSp delSp add del">
        <pc:chgData name="Silvio Neto" userId="S::srbno@iscte-iul.pt::8867c39a-e733-4c05-9133-4fd97a46772c" providerId="AD" clId="Web-{16A3CEF5-C26A-3F9B-3AF2-9865A1F427A9}" dt="2026-04-23T12:25:08.111" v="17"/>
        <pc:sldMkLst>
          <pc:docMk/>
          <pc:sldMk cId="3809991277" sldId="269"/>
        </pc:sldMkLst>
        <pc:picChg chg="add del">
          <ac:chgData name="Silvio Neto" userId="S::srbno@iscte-iul.pt::8867c39a-e733-4c05-9133-4fd97a46772c" providerId="AD" clId="Web-{16A3CEF5-C26A-3F9B-3AF2-9865A1F427A9}" dt="2026-04-23T12:25:05.439" v="14"/>
          <ac:picMkLst>
            <pc:docMk/>
            <pc:sldMk cId="3809991277" sldId="269"/>
            <ac:picMk id="3" creationId="{B2D8E1E0-D63D-7B61-B674-7F908FD9DFF2}"/>
          </ac:picMkLst>
        </pc:picChg>
      </pc:sldChg>
    </pc:docChg>
  </pc:docChgLst>
  <pc:docChgLst>
    <pc:chgData name="Silvio Neto" userId="S::srbno@iscte-iul.pt::8867c39a-e733-4c05-9133-4fd97a46772c" providerId="AD" clId="Web-{43861A5C-79BE-97F7-77C0-AE08A2E2E703}"/>
    <pc:docChg chg="modSld">
      <pc:chgData name="Silvio Neto" userId="S::srbno@iscte-iul.pt::8867c39a-e733-4c05-9133-4fd97a46772c" providerId="AD" clId="Web-{43861A5C-79BE-97F7-77C0-AE08A2E2E703}" dt="2026-04-22T17:14:57.230" v="2" actId="20577"/>
      <pc:docMkLst>
        <pc:docMk/>
      </pc:docMkLst>
      <pc:sldChg chg="modSp">
        <pc:chgData name="Silvio Neto" userId="S::srbno@iscte-iul.pt::8867c39a-e733-4c05-9133-4fd97a46772c" providerId="AD" clId="Web-{43861A5C-79BE-97F7-77C0-AE08A2E2E703}" dt="2026-04-22T17:14:57.230" v="2" actId="20577"/>
        <pc:sldMkLst>
          <pc:docMk/>
          <pc:sldMk cId="0" sldId="264"/>
        </pc:sldMkLst>
        <pc:spChg chg="mod">
          <ac:chgData name="Silvio Neto" userId="S::srbno@iscte-iul.pt::8867c39a-e733-4c05-9133-4fd97a46772c" providerId="AD" clId="Web-{43861A5C-79BE-97F7-77C0-AE08A2E2E703}" dt="2026-04-22T17:14:57.230" v="2" actId="20577"/>
          <ac:spMkLst>
            <pc:docMk/>
            <pc:sldMk cId="0" sldId="264"/>
            <ac:spMk id="122" creationId="{00000000-0000-0000-0000-000000000000}"/>
          </ac:spMkLst>
        </pc:spChg>
      </pc:sldChg>
    </pc:docChg>
  </pc:docChgLst>
  <pc:docChgLst>
    <pc:chgData name="Silvio Neto" userId="S::srbno@iscte-iul.pt::8867c39a-e733-4c05-9133-4fd97a46772c" providerId="AD" clId="Web-{E04D922A-A7EC-68CF-C5B5-7C3A554C5023}"/>
    <pc:docChg chg="delSld">
      <pc:chgData name="Silvio Neto" userId="S::srbno@iscte-iul.pt::8867c39a-e733-4c05-9133-4fd97a46772c" providerId="AD" clId="Web-{E04D922A-A7EC-68CF-C5B5-7C3A554C5023}" dt="2026-04-21T12:52:20.969" v="0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sldNum" idx="4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B82F15-D6DB-43A1-AF45-7C58112674D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pt-PT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5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B8A9DE-6950-4DD6-856E-68E4026DFA1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pt-PT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SLIDES_API1258792158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SLIDES_API1258792158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SLIDES_API1258792158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SLIDES_API1258792158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762358750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762358750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762358750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762358750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SLIDES_API1258792158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SLIDES_API1258792158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SLIDES_API1258792158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SLIDES_API1258792158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SLIDES_API1258792158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SLIDES_API1258792158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E85E0A"/>
          </a:solidFill>
          <a:ln w="12700">
            <a:solidFill>
              <a:srgbClr val="E85E0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pt-PT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Text 1"/>
          <p:cNvSpPr/>
          <p:nvPr/>
        </p:nvSpPr>
        <p:spPr>
          <a:xfrm>
            <a:off x="640080" y="502920"/>
            <a:ext cx="786348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3600" b="1" strike="noStrike" spc="-1" err="1">
                <a:solidFill>
                  <a:srgbClr val="1A1A2E"/>
                </a:solidFill>
                <a:latin typeface="Calibri"/>
                <a:ea typeface="Calibri"/>
              </a:rPr>
              <a:t>Gestão</a:t>
            </a:r>
            <a:r>
              <a:rPr lang="en-US" sz="3600" b="1" strike="noStrike" spc="-1">
                <a:solidFill>
                  <a:srgbClr val="1A1A2E"/>
                </a:solidFill>
                <a:latin typeface="Calibri"/>
                <a:ea typeface="Calibri"/>
              </a:rPr>
              <a:t> Segura de </a:t>
            </a:r>
            <a:r>
              <a:rPr lang="en-US" sz="3600" b="1" strike="noStrike" spc="-1" err="1">
                <a:solidFill>
                  <a:srgbClr val="1A1A2E"/>
                </a:solidFill>
                <a:latin typeface="Calibri"/>
                <a:ea typeface="Calibri"/>
              </a:rPr>
              <a:t>Dependências</a:t>
            </a:r>
            <a:endParaRPr lang="pt-PT" sz="3600" b="0" strike="noStrike" spc="-1" err="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3600" b="1" strike="noStrike" spc="-1">
                <a:solidFill>
                  <a:srgbClr val="1A1A2E"/>
                </a:solidFill>
                <a:latin typeface="Calibri"/>
                <a:ea typeface="Calibri"/>
              </a:rPr>
              <a:t>no </a:t>
            </a:r>
            <a:r>
              <a:rPr lang="en-US" sz="3600" b="1" strike="noStrike" spc="-1" err="1">
                <a:solidFill>
                  <a:srgbClr val="1A1A2E"/>
                </a:solidFill>
                <a:latin typeface="Calibri"/>
                <a:ea typeface="Calibri"/>
              </a:rPr>
              <a:t>Ecossistema</a:t>
            </a:r>
            <a:r>
              <a:rPr lang="en-US" sz="3600" b="1" strike="noStrike" spc="-1">
                <a:solidFill>
                  <a:srgbClr val="1A1A2E"/>
                </a:solidFill>
                <a:latin typeface="Calibri"/>
                <a:ea typeface="Calibri"/>
              </a:rPr>
              <a:t> </a:t>
            </a:r>
            <a:r>
              <a:rPr lang="en-US" sz="3600" b="1" strike="noStrike" spc="-1" err="1">
                <a:solidFill>
                  <a:srgbClr val="1A1A2E"/>
                </a:solidFill>
                <a:latin typeface="Calibri"/>
                <a:ea typeface="Calibri"/>
              </a:rPr>
              <a:t>npm</a:t>
            </a:r>
            <a:endParaRPr lang="pt-PT" sz="3600" b="0" strike="noStrike" spc="-1" err="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640080" y="2423160"/>
            <a:ext cx="1096920" cy="54360"/>
          </a:xfrm>
          <a:prstGeom prst="rect">
            <a:avLst/>
          </a:prstGeom>
          <a:solidFill>
            <a:srgbClr val="E85E0A"/>
          </a:solidFill>
          <a:ln w="12700">
            <a:solidFill>
              <a:srgbClr val="E85E0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pt-PT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Text 3"/>
          <p:cNvSpPr/>
          <p:nvPr/>
        </p:nvSpPr>
        <p:spPr>
          <a:xfrm>
            <a:off x="640080" y="2606040"/>
            <a:ext cx="78634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 err="1">
                <a:solidFill>
                  <a:srgbClr val="444444"/>
                </a:solidFill>
                <a:latin typeface="Calibri"/>
                <a:ea typeface="Calibri"/>
              </a:rPr>
              <a:t>Laboratório</a:t>
            </a:r>
            <a:r>
              <a:rPr lang="en-US" sz="1400" b="0" strike="noStrike" spc="-1">
                <a:solidFill>
                  <a:srgbClr val="444444"/>
                </a:solidFill>
                <a:latin typeface="Calibri"/>
                <a:ea typeface="Calibri"/>
              </a:rPr>
              <a:t> de ferramentas de </a:t>
            </a:r>
            <a:r>
              <a:rPr lang="en-US" sz="1400" b="0" strike="noStrike" spc="-1" err="1">
                <a:solidFill>
                  <a:srgbClr val="444444"/>
                </a:solidFill>
                <a:latin typeface="Calibri"/>
                <a:ea typeface="Calibri"/>
              </a:rPr>
              <a:t>segurança</a:t>
            </a:r>
            <a:r>
              <a:rPr lang="en-US" sz="1400" b="0" strike="noStrike" spc="-1">
                <a:solidFill>
                  <a:srgbClr val="444444"/>
                </a:solidFill>
                <a:latin typeface="Calibri"/>
                <a:ea typeface="Calibri"/>
              </a:rPr>
              <a:t>  ·  </a:t>
            </a:r>
            <a:r>
              <a:rPr lang="en-US" sz="1400" b="0" strike="noStrike" spc="-1" err="1">
                <a:solidFill>
                  <a:srgbClr val="444444"/>
                </a:solidFill>
                <a:latin typeface="Calibri"/>
                <a:ea typeface="Calibri"/>
              </a:rPr>
              <a:t>Protótipo</a:t>
            </a:r>
            <a:r>
              <a:rPr lang="en-US" sz="1400" b="0" strike="noStrike" spc="-1">
                <a:solidFill>
                  <a:srgbClr val="444444"/>
                </a:solidFill>
                <a:latin typeface="Calibri"/>
                <a:ea typeface="Calibri"/>
              </a:rPr>
              <a:t> de pipeline CI/CD para PME</a:t>
            </a:r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640080" y="3500438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pt-BR" sz="1200" i="1" spc="-1">
                <a:solidFill>
                  <a:srgbClr val="888888"/>
                </a:solidFill>
                <a:latin typeface="Calibri"/>
                <a:ea typeface="Calibri"/>
              </a:rPr>
              <a:t>Júlio Lacerda, Nº 128923 </a:t>
            </a:r>
            <a:br>
              <a:rPr lang="pt-BR" sz="1200" i="1" spc="-1">
                <a:solidFill>
                  <a:srgbClr val="888888"/>
                </a:solidFill>
                <a:latin typeface="Calibri"/>
                <a:ea typeface="Calibri"/>
              </a:rPr>
            </a:br>
            <a:r>
              <a:rPr lang="pt-BR" sz="1200" i="1" spc="-1">
                <a:solidFill>
                  <a:srgbClr val="888888"/>
                </a:solidFill>
                <a:latin typeface="Calibri"/>
                <a:ea typeface="Calibri"/>
              </a:rPr>
              <a:t>Silvio Romano B. Neto, Nº 135603 </a:t>
            </a:r>
            <a:br>
              <a:rPr lang="pt-BR" sz="1200" i="1" spc="-1">
                <a:solidFill>
                  <a:srgbClr val="888888"/>
                </a:solidFill>
                <a:latin typeface="Calibri"/>
                <a:ea typeface="Calibri"/>
              </a:rPr>
            </a:br>
            <a:r>
              <a:rPr lang="pt-BR" sz="1200" i="1" spc="-1">
                <a:solidFill>
                  <a:srgbClr val="888888"/>
                </a:solidFill>
                <a:latin typeface="Calibri"/>
                <a:ea typeface="Calibri"/>
              </a:rPr>
              <a:t>Sergio Eduardo D. Oliveira, Nº 136477 </a:t>
            </a:r>
            <a:br>
              <a:rPr lang="pt-BR" sz="1200" i="1" spc="-1">
                <a:solidFill>
                  <a:srgbClr val="888888"/>
                </a:solidFill>
                <a:latin typeface="Calibri"/>
                <a:ea typeface="Calibri"/>
              </a:rPr>
            </a:br>
            <a:r>
              <a:rPr lang="pt-BR" sz="1200" i="1" spc="-1">
                <a:solidFill>
                  <a:srgbClr val="888888"/>
                </a:solidFill>
                <a:latin typeface="Calibri"/>
                <a:ea typeface="Calibri"/>
              </a:rPr>
              <a:t>Pedro Rafael Felicio da Conceição, Nº 135165 </a:t>
            </a:r>
            <a:endParaRPr lang="en-US" sz="1200" i="1" spc="-1">
              <a:solidFill>
                <a:srgbClr val="888888"/>
              </a:solidFill>
              <a:latin typeface="Calibri"/>
              <a:ea typeface="Calibri"/>
            </a:endParaRPr>
          </a:p>
        </p:txBody>
      </p:sp>
      <p:sp>
        <p:nvSpPr>
          <p:cNvPr id="14" name="Text 5"/>
          <p:cNvSpPr/>
          <p:nvPr/>
        </p:nvSpPr>
        <p:spPr>
          <a:xfrm>
            <a:off x="2743200" y="4645080"/>
            <a:ext cx="6034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 err="1">
                <a:solidFill>
                  <a:srgbClr val="999999"/>
                </a:solidFill>
                <a:latin typeface="Calibri"/>
                <a:ea typeface="Calibri"/>
              </a:rPr>
              <a:t>Desenvolvimento</a:t>
            </a:r>
            <a:r>
              <a:rPr lang="en-US" sz="900" b="0" strike="noStrike" spc="-1">
                <a:solidFill>
                  <a:srgbClr val="999999"/>
                </a:solidFill>
                <a:latin typeface="Calibri"/>
                <a:ea typeface="Calibri"/>
              </a:rPr>
              <a:t> Seguro de Software · MEI-PL · 2025/2026</a:t>
            </a:r>
            <a:endParaRPr lang="pt-PT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Shape 6"/>
          <p:cNvSpPr/>
          <p:nvPr/>
        </p:nvSpPr>
        <p:spPr>
          <a:xfrm>
            <a:off x="365760" y="4498920"/>
            <a:ext cx="8412120" cy="16200"/>
          </a:xfrm>
          <a:prstGeom prst="rect">
            <a:avLst/>
          </a:prstGeom>
          <a:solidFill>
            <a:srgbClr val="E85E0A"/>
          </a:solidFill>
          <a:ln w="12700">
            <a:solidFill>
              <a:srgbClr val="E85E0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440" rIns="90000" bIns="-2844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pt-PT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3" name="Google Shape;67;p1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5F78F8F-806F-B2E2-E2B7-E2C5BE993D1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6214" y="189475"/>
            <a:ext cx="1505711" cy="7587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516229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9000"/>
    </mc:Choice>
    <mc:Fallback>
      <p:transition spd="slow" advTm="49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E85E0A"/>
          </a:solidFill>
          <a:ln w="12700">
            <a:solidFill>
              <a:srgbClr val="E85E0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pt-PT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Text 1"/>
          <p:cNvSpPr/>
          <p:nvPr/>
        </p:nvSpPr>
        <p:spPr>
          <a:xfrm>
            <a:off x="640080" y="255960"/>
            <a:ext cx="78634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A1A2E"/>
                </a:solidFill>
                <a:latin typeface="Calibri"/>
                <a:ea typeface="Calibri"/>
              </a:rPr>
              <a:t>Ataques de Supply Chain npm</a:t>
            </a:r>
            <a:endParaRPr lang="pt-PT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2"/>
          <p:cNvSpPr/>
          <p:nvPr/>
        </p:nvSpPr>
        <p:spPr>
          <a:xfrm>
            <a:off x="640080" y="914400"/>
            <a:ext cx="78634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strike="noStrike" spc="-1">
                <a:solidFill>
                  <a:srgbClr val="555555"/>
                </a:solidFill>
                <a:latin typeface="Calibri"/>
                <a:ea typeface="Calibri"/>
              </a:rPr>
              <a:t>Código malicioso injetado numa dependência executa automaticamente no  npm install</a:t>
            </a:r>
            <a:endParaRPr lang="pt-P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3"/>
          <p:cNvSpPr/>
          <p:nvPr/>
        </p:nvSpPr>
        <p:spPr>
          <a:xfrm>
            <a:off x="640080" y="1417320"/>
            <a:ext cx="2377080" cy="2285640"/>
          </a:xfrm>
          <a:prstGeom prst="rect">
            <a:avLst/>
          </a:prstGeom>
          <a:solidFill>
            <a:srgbClr val="F8F8F8"/>
          </a:solidFill>
          <a:ln w="9525">
            <a:solidFill>
              <a:srgbClr val="DDDD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pt-PT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Shape 4"/>
          <p:cNvSpPr/>
          <p:nvPr/>
        </p:nvSpPr>
        <p:spPr>
          <a:xfrm>
            <a:off x="640080" y="1417320"/>
            <a:ext cx="2377080" cy="438480"/>
          </a:xfrm>
          <a:prstGeom prst="rect">
            <a:avLst/>
          </a:prstGeom>
          <a:solidFill>
            <a:srgbClr val="E85E0A"/>
          </a:solidFill>
          <a:ln w="12700">
            <a:solidFill>
              <a:srgbClr val="E85E0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pt-PT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Text 5"/>
          <p:cNvSpPr/>
          <p:nvPr/>
        </p:nvSpPr>
        <p:spPr>
          <a:xfrm>
            <a:off x="731520" y="1444680"/>
            <a:ext cx="21942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Calibri"/>
                <a:ea typeface="Calibri"/>
              </a:rPr>
              <a:t>2018</a:t>
            </a:r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6"/>
          <p:cNvSpPr/>
          <p:nvPr/>
        </p:nvSpPr>
        <p:spPr>
          <a:xfrm>
            <a:off x="777240" y="196596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1A1A2E"/>
                </a:solidFill>
                <a:latin typeface="Calibri"/>
                <a:ea typeface="Calibri"/>
              </a:rPr>
              <a:t>event-stream</a:t>
            </a:r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7"/>
          <p:cNvSpPr/>
          <p:nvPr/>
        </p:nvSpPr>
        <p:spPr>
          <a:xfrm>
            <a:off x="777240" y="2423160"/>
            <a:ext cx="210276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555555"/>
                </a:solidFill>
                <a:latin typeface="Calibri"/>
                <a:ea typeface="Calibri"/>
              </a:rPr>
              <a:t>2M downloads/semana</a:t>
            </a:r>
            <a:endParaRPr lang="pt-PT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555555"/>
                </a:solidFill>
                <a:latin typeface="Calibri"/>
                <a:ea typeface="Calibri"/>
              </a:rPr>
              <a:t>Payload visava</a:t>
            </a:r>
            <a:endParaRPr lang="pt-PT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555555"/>
                </a:solidFill>
                <a:latin typeface="Calibri"/>
                <a:ea typeface="Calibri"/>
              </a:rPr>
              <a:t>carteiras Bitcoin</a:t>
            </a:r>
            <a:endParaRPr lang="pt-PT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8"/>
          <p:cNvSpPr/>
          <p:nvPr/>
        </p:nvSpPr>
        <p:spPr>
          <a:xfrm>
            <a:off x="3291840" y="1417320"/>
            <a:ext cx="2377080" cy="2285640"/>
          </a:xfrm>
          <a:prstGeom prst="rect">
            <a:avLst/>
          </a:prstGeom>
          <a:solidFill>
            <a:srgbClr val="F8F8F8"/>
          </a:solidFill>
          <a:ln w="9525">
            <a:solidFill>
              <a:srgbClr val="DDDD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pt-PT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Shape 9"/>
          <p:cNvSpPr/>
          <p:nvPr/>
        </p:nvSpPr>
        <p:spPr>
          <a:xfrm>
            <a:off x="3291840" y="1417320"/>
            <a:ext cx="2377080" cy="438480"/>
          </a:xfrm>
          <a:prstGeom prst="rect">
            <a:avLst/>
          </a:prstGeom>
          <a:solidFill>
            <a:srgbClr val="E85E0A"/>
          </a:solidFill>
          <a:ln w="12700">
            <a:solidFill>
              <a:srgbClr val="E85E0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pt-PT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Text 10"/>
          <p:cNvSpPr/>
          <p:nvPr/>
        </p:nvSpPr>
        <p:spPr>
          <a:xfrm>
            <a:off x="3383280" y="1444680"/>
            <a:ext cx="21942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Calibri"/>
                <a:ea typeface="Calibri"/>
              </a:rPr>
              <a:t>2021</a:t>
            </a:r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1"/>
          <p:cNvSpPr/>
          <p:nvPr/>
        </p:nvSpPr>
        <p:spPr>
          <a:xfrm>
            <a:off x="3429000" y="196596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1A1A2E"/>
                </a:solidFill>
                <a:latin typeface="Calibri"/>
                <a:ea typeface="Calibri"/>
              </a:rPr>
              <a:t>ua-parser-js</a:t>
            </a:r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12"/>
          <p:cNvSpPr/>
          <p:nvPr/>
        </p:nvSpPr>
        <p:spPr>
          <a:xfrm>
            <a:off x="3429000" y="2423160"/>
            <a:ext cx="210276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555555"/>
                </a:solidFill>
                <a:latin typeface="Calibri"/>
                <a:ea typeface="Calibri"/>
              </a:rPr>
              <a:t>8M downloads/semana</a:t>
            </a:r>
            <a:endParaRPr lang="pt-PT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555555"/>
                </a:solidFill>
                <a:latin typeface="Calibri"/>
                <a:ea typeface="Calibri"/>
              </a:rPr>
              <a:t>Instalava</a:t>
            </a:r>
            <a:endParaRPr lang="pt-PT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555555"/>
                </a:solidFill>
                <a:latin typeface="Calibri"/>
                <a:ea typeface="Calibri"/>
              </a:rPr>
              <a:t>cryptominer</a:t>
            </a:r>
            <a:endParaRPr lang="pt-PT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13"/>
          <p:cNvSpPr/>
          <p:nvPr/>
        </p:nvSpPr>
        <p:spPr>
          <a:xfrm>
            <a:off x="5943600" y="1417320"/>
            <a:ext cx="2377080" cy="2285640"/>
          </a:xfrm>
          <a:prstGeom prst="rect">
            <a:avLst/>
          </a:prstGeom>
          <a:solidFill>
            <a:srgbClr val="F8F8F8"/>
          </a:solidFill>
          <a:ln w="9525">
            <a:solidFill>
              <a:srgbClr val="DDDD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pt-PT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Shape 14"/>
          <p:cNvSpPr/>
          <p:nvPr/>
        </p:nvSpPr>
        <p:spPr>
          <a:xfrm>
            <a:off x="5943600" y="1417320"/>
            <a:ext cx="2377080" cy="438480"/>
          </a:xfrm>
          <a:prstGeom prst="rect">
            <a:avLst/>
          </a:prstGeom>
          <a:solidFill>
            <a:srgbClr val="E85E0A"/>
          </a:solidFill>
          <a:ln w="12700">
            <a:solidFill>
              <a:srgbClr val="E85E0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pt-PT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Text 15"/>
          <p:cNvSpPr/>
          <p:nvPr/>
        </p:nvSpPr>
        <p:spPr>
          <a:xfrm>
            <a:off x="6035040" y="1444680"/>
            <a:ext cx="21942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Calibri"/>
                <a:ea typeface="Calibri"/>
              </a:rPr>
              <a:t>2022</a:t>
            </a:r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16"/>
          <p:cNvSpPr/>
          <p:nvPr/>
        </p:nvSpPr>
        <p:spPr>
          <a:xfrm>
            <a:off x="6080760" y="196596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1A1A2E"/>
                </a:solidFill>
                <a:latin typeface="Calibri"/>
                <a:ea typeface="Calibri"/>
              </a:rPr>
              <a:t>colors &amp; faker</a:t>
            </a:r>
            <a:endParaRPr lang="pt-P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17"/>
          <p:cNvSpPr/>
          <p:nvPr/>
        </p:nvSpPr>
        <p:spPr>
          <a:xfrm>
            <a:off x="6080760" y="2423160"/>
            <a:ext cx="210276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555555"/>
                </a:solidFill>
                <a:latin typeface="Calibri"/>
                <a:ea typeface="Calibri"/>
              </a:rPr>
              <a:t>Sabotados pelo</a:t>
            </a:r>
            <a:endParaRPr lang="pt-PT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555555"/>
                </a:solidFill>
                <a:latin typeface="Calibri"/>
                <a:ea typeface="Calibri"/>
              </a:rPr>
              <a:t>próprio maintainer</a:t>
            </a:r>
            <a:endParaRPr lang="pt-PT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18"/>
          <p:cNvSpPr/>
          <p:nvPr/>
        </p:nvSpPr>
        <p:spPr>
          <a:xfrm>
            <a:off x="640080" y="384048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85E0A"/>
                </a:solidFill>
                <a:latin typeface="Calibri"/>
                <a:ea typeface="Calibri"/>
              </a:rPr>
              <a:t>O problema:</a:t>
            </a:r>
            <a:endParaRPr lang="pt-PT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19"/>
          <p:cNvSpPr/>
          <p:nvPr/>
        </p:nvSpPr>
        <p:spPr>
          <a:xfrm>
            <a:off x="1600200" y="3840480"/>
            <a:ext cx="6903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33333"/>
                </a:solidFill>
                <a:latin typeface="Calibri"/>
                <a:ea typeface="Calibri"/>
              </a:rPr>
              <a:t>npm install instala dezenas de pacotes transitivos que ninguém audita manualmente.</a:t>
            </a:r>
            <a:endParaRPr lang="pt-PT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20"/>
          <p:cNvSpPr/>
          <p:nvPr/>
        </p:nvSpPr>
        <p:spPr>
          <a:xfrm>
            <a:off x="2743200" y="4645080"/>
            <a:ext cx="6034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999999"/>
                </a:solidFill>
                <a:latin typeface="Calibri"/>
                <a:ea typeface="Calibri"/>
              </a:rPr>
              <a:t>Desenvolvimento Seguro de Software · MEI-PL · 2025/2026</a:t>
            </a:r>
            <a:endParaRPr lang="pt-PT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21"/>
          <p:cNvSpPr/>
          <p:nvPr/>
        </p:nvSpPr>
        <p:spPr>
          <a:xfrm>
            <a:off x="365760" y="4498920"/>
            <a:ext cx="8412120" cy="16200"/>
          </a:xfrm>
          <a:prstGeom prst="rect">
            <a:avLst/>
          </a:prstGeom>
          <a:solidFill>
            <a:srgbClr val="E85E0A"/>
          </a:solidFill>
          <a:ln w="12700">
            <a:solidFill>
              <a:srgbClr val="E85E0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440" rIns="90000" bIns="-2844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pt-PT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3" name="Google Shape;67;p1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E7AF4E8-DCEC-090E-3F9F-B19DA68F403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6214" y="189475"/>
            <a:ext cx="1505711" cy="7587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10536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1000"/>
    </mc:Choice>
    <mc:Fallback>
      <p:transition spd="slow" advTm="61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/>
        </p:nvSpPr>
        <p:spPr>
          <a:xfrm>
            <a:off x="381000" y="228600"/>
            <a:ext cx="83820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1">
                <a:solidFill>
                  <a:srgbClr val="2C3E50"/>
                </a:solidFill>
              </a:rPr>
              <a:t>Cenário: PME de Telecomunicações</a:t>
            </a:r>
            <a:endParaRPr sz="2600" b="1">
              <a:solidFill>
                <a:srgbClr val="2C3E50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889000" y="1397000"/>
            <a:ext cx="73659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2C3E50"/>
                </a:solidFill>
              </a:rPr>
              <a:t>• Aplicação fictícia: VoIP Manager API = Express + SQLite + JWT</a:t>
            </a:r>
            <a:endParaRPr sz="1600">
              <a:solidFill>
                <a:srgbClr val="2C3E50"/>
              </a:solidFill>
            </a:endParaRP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2C3E50"/>
                </a:solidFill>
              </a:rPr>
              <a:t>• Função: gere extensões SIP, troncos e registos de chamadas (CDR)</a:t>
            </a:r>
            <a:endParaRPr sz="1600">
              <a:solidFill>
                <a:srgbClr val="2C3E50"/>
              </a:solidFill>
            </a:endParaRP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2C3E50"/>
                </a:solidFill>
              </a:rPr>
              <a:t>• Stack Node.js — representativo do ecossistema NPM</a:t>
            </a:r>
            <a:endParaRPr sz="1600">
              <a:solidFill>
                <a:srgbClr val="2C3E50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635000" y="3810000"/>
            <a:ext cx="7874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2C3E50"/>
                </a:solidFill>
              </a:rPr>
              <a:t>"Como se protege uma PME destes ataques?"</a:t>
            </a:r>
            <a:endParaRPr sz="1800" b="1">
              <a:solidFill>
                <a:srgbClr val="2C3E50"/>
              </a:solidFill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6214" y="189475"/>
            <a:ext cx="1505711" cy="7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/>
        </p:nvSpPr>
        <p:spPr>
          <a:xfrm>
            <a:off x="381000" y="228600"/>
            <a:ext cx="83820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1">
                <a:solidFill>
                  <a:srgbClr val="2C3E50"/>
                </a:solidFill>
              </a:rPr>
              <a:t>Duas Ameaças Testadas no Laboratório</a:t>
            </a:r>
            <a:endParaRPr sz="2600" b="1">
              <a:solidFill>
                <a:srgbClr val="2C3E50"/>
              </a:solidFill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508000" y="1397000"/>
            <a:ext cx="3810000" cy="2793900"/>
          </a:xfrm>
          <a:prstGeom prst="rect">
            <a:avLst/>
          </a:prstGeom>
          <a:solidFill>
            <a:srgbClr val="FDF2F2"/>
          </a:solidFill>
          <a:ln w="9525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2C3E50"/>
                </a:solidFill>
              </a:rPr>
              <a:t>lodash@4.17.11</a:t>
            </a:r>
            <a:endParaRPr sz="1500">
              <a:solidFill>
                <a:srgbClr val="2C3E5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2C3E50"/>
                </a:solidFill>
              </a:rPr>
              <a:t>• CVE conhecido — CVSS 9.1</a:t>
            </a:r>
            <a:endParaRPr sz="1500">
              <a:solidFill>
                <a:srgbClr val="2C3E5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2C3E50"/>
                </a:solidFill>
              </a:rPr>
              <a:t>• 7 advisories publicados</a:t>
            </a:r>
            <a:endParaRPr sz="1500">
              <a:solidFill>
                <a:srgbClr val="2C3E5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2C3E50"/>
                </a:solidFill>
              </a:rPr>
              <a:t>• Ameaça convencional</a:t>
            </a:r>
            <a:endParaRPr sz="1500">
              <a:solidFill>
                <a:srgbClr val="2C3E50"/>
              </a:solidFill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4826000" y="1397000"/>
            <a:ext cx="3810000" cy="2793900"/>
          </a:xfrm>
          <a:prstGeom prst="rect">
            <a:avLst/>
          </a:prstGeom>
          <a:solidFill>
            <a:srgbClr val="FDF2F2"/>
          </a:solidFill>
          <a:ln w="9525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2C3E50"/>
                </a:solidFill>
              </a:rPr>
              <a:t>@demo-lab/supply-chain-demo</a:t>
            </a:r>
            <a:endParaRPr sz="1500">
              <a:solidFill>
                <a:srgbClr val="2C3E5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2C3E50"/>
                </a:solidFill>
              </a:rPr>
              <a:t>• Sem CVE registado</a:t>
            </a:r>
            <a:endParaRPr sz="1500">
              <a:solidFill>
                <a:srgbClr val="2C3E5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2C3E50"/>
                </a:solidFill>
              </a:rPr>
              <a:t>• postinstall exfiltra variáveis de ambiente via HTTP POST</a:t>
            </a:r>
            <a:endParaRPr sz="1500">
              <a:solidFill>
                <a:srgbClr val="2C3E5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2C3E50"/>
                </a:solidFill>
              </a:rPr>
              <a:t>• Ataque zero-day</a:t>
            </a:r>
            <a:endParaRPr sz="1500">
              <a:solidFill>
                <a:srgbClr val="2C3E50"/>
              </a:solidFill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381000" y="6121400"/>
            <a:ext cx="83820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i="1">
                <a:solidFill>
                  <a:srgbClr val="2C3E50"/>
                </a:solidFill>
              </a:rPr>
              <a:t>"Duas ameaças ortogonais: uma testável por base de dados, outra invisível a qualquer CVE."</a:t>
            </a:r>
            <a:endParaRPr sz="1100" i="1">
              <a:solidFill>
                <a:srgbClr val="2C3E50"/>
              </a:solidFill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6214" y="189475"/>
            <a:ext cx="1505711" cy="7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/>
        </p:nvSpPr>
        <p:spPr>
          <a:xfrm>
            <a:off x="381000" y="228600"/>
            <a:ext cx="83820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1">
                <a:solidFill>
                  <a:srgbClr val="2C3E50"/>
                </a:solidFill>
              </a:rPr>
              <a:t>Arquitetura do Laboratório</a:t>
            </a:r>
            <a:endParaRPr sz="2600" b="1">
              <a:solidFill>
                <a:srgbClr val="2C3E50"/>
              </a:solidFill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381000" y="6121400"/>
            <a:ext cx="83820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i="1">
                <a:solidFill>
                  <a:srgbClr val="2C3E50"/>
                </a:solidFill>
              </a:rPr>
              <a:t>"Duas ameaças ortogonais: uma testável por base de dados, outra invisível a qualquer CVE."</a:t>
            </a:r>
            <a:endParaRPr sz="1100" i="1">
              <a:solidFill>
                <a:srgbClr val="2C3E50"/>
              </a:solidFill>
            </a:endParaRPr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6214" y="189475"/>
            <a:ext cx="1505711" cy="75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 title="Untitled diagram-2026-04-19-22115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2650" y="1035900"/>
            <a:ext cx="5551923" cy="3955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/>
        </p:nvSpPr>
        <p:spPr>
          <a:xfrm>
            <a:off x="381000" y="228600"/>
            <a:ext cx="83820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1">
                <a:solidFill>
                  <a:srgbClr val="2C3E50"/>
                </a:solidFill>
              </a:rPr>
              <a:t>Resultados do Laboratório</a:t>
            </a:r>
            <a:endParaRPr sz="2600" b="1">
              <a:solidFill>
                <a:srgbClr val="2C3E50"/>
              </a:solidFill>
            </a:endParaRPr>
          </a:p>
        </p:txBody>
      </p:sp>
      <p:graphicFrame>
        <p:nvGraphicFramePr>
          <p:cNvPr id="98" name="Google Shape;98;p18"/>
          <p:cNvGraphicFramePr/>
          <p:nvPr/>
        </p:nvGraphicFramePr>
        <p:xfrm>
          <a:off x="381000" y="927000"/>
          <a:ext cx="7008125" cy="4093800"/>
        </p:xfrm>
        <a:graphic>
          <a:graphicData uri="http://schemas.openxmlformats.org/drawingml/2006/table">
            <a:tbl>
              <a:tblPr>
                <a:noFill/>
                <a:tableStyleId>{FDA03B60-1E1E-4555-96C5-48BB92776C77}</a:tableStyleId>
              </a:tblPr>
              <a:tblGrid>
                <a:gridCol w="140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0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1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4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</a:rPr>
                        <a:t>Teste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</a:rPr>
                        <a:t>Ferramenta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</a:rPr>
                        <a:t>O que testa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</a:rPr>
                        <a:t>lodash CVE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</a:rPr>
                        <a:t>Zero-day</a:t>
                      </a:r>
                      <a:endParaRPr sz="10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C3E50"/>
                          </a:solidFill>
                        </a:rPr>
                        <a:t>T1: Baseline</a:t>
                      </a:r>
                      <a:endParaRPr sz="1000">
                        <a:solidFill>
                          <a:srgbClr val="2C3E5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C3E50"/>
                          </a:solidFill>
                        </a:rPr>
                        <a:t>npm install</a:t>
                      </a:r>
                      <a:endParaRPr sz="1000">
                        <a:solidFill>
                          <a:srgbClr val="2C3E5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C3E50"/>
                          </a:solidFill>
                        </a:rPr>
                        <a:t>Comportamento padrão sem proteção</a:t>
                      </a:r>
                      <a:endParaRPr sz="1000">
                        <a:solidFill>
                          <a:srgbClr val="2C3E5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3E50"/>
                        </a:buClr>
                        <a:buSzPts val="1000"/>
                        <a:buChar char="-"/>
                      </a:pPr>
                      <a:endParaRPr sz="1000">
                        <a:solidFill>
                          <a:srgbClr val="2C3E5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C3E50"/>
                          </a:solidFill>
                        </a:rPr>
                        <a:t>Executou script</a:t>
                      </a:r>
                      <a:endParaRPr sz="1000">
                        <a:solidFill>
                          <a:srgbClr val="2C3E5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C3E50"/>
                          </a:solidFill>
                        </a:rPr>
                        <a:t>T2: Inventário</a:t>
                      </a:r>
                      <a:endParaRPr sz="1000">
                        <a:solidFill>
                          <a:srgbClr val="2C3E5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C3E50"/>
                          </a:solidFill>
                        </a:rPr>
                        <a:t>Syft</a:t>
                      </a:r>
                      <a:endParaRPr sz="1000">
                        <a:solidFill>
                          <a:srgbClr val="2C3E5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C3E50"/>
                          </a:solidFill>
                        </a:rPr>
                        <a:t>Gera SBOM com as dependências</a:t>
                      </a:r>
                      <a:endParaRPr sz="1000">
                        <a:solidFill>
                          <a:srgbClr val="2C3E5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C3E50"/>
                          </a:solidFill>
                        </a:rPr>
                        <a:t>inventariado</a:t>
                      </a:r>
                      <a:endParaRPr sz="1000">
                        <a:solidFill>
                          <a:srgbClr val="2C3E5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C3E50"/>
                          </a:solidFill>
                        </a:rPr>
                        <a:t>inventariado</a:t>
                      </a:r>
                      <a:endParaRPr sz="1000">
                        <a:solidFill>
                          <a:srgbClr val="2C3E5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C3E50"/>
                          </a:solidFill>
                        </a:rPr>
                        <a:t>T3a: SCA nativo</a:t>
                      </a:r>
                      <a:endParaRPr sz="1000">
                        <a:solidFill>
                          <a:srgbClr val="2C3E5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C3E50"/>
                          </a:solidFill>
                        </a:rPr>
                        <a:t>npm audit</a:t>
                      </a:r>
                      <a:endParaRPr sz="1000">
                        <a:solidFill>
                          <a:srgbClr val="2C3E5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C3E50"/>
                          </a:solidFill>
                        </a:rPr>
                        <a:t>Auditoria reativa via base npm Advisory</a:t>
                      </a:r>
                      <a:endParaRPr sz="1000">
                        <a:solidFill>
                          <a:srgbClr val="2C3E5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C3E50"/>
                          </a:solidFill>
                        </a:rPr>
                        <a:t>7 CVEs</a:t>
                      </a:r>
                      <a:endParaRPr sz="1000">
                        <a:solidFill>
                          <a:srgbClr val="2C3E5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C0392B"/>
                          </a:solidFill>
                        </a:rPr>
                        <a:t>não detectado</a:t>
                      </a:r>
                      <a:endParaRPr sz="1000">
                        <a:solidFill>
                          <a:srgbClr val="C0392B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C3E50"/>
                          </a:solidFill>
                        </a:rPr>
                        <a:t>T3b: SCA open source</a:t>
                      </a:r>
                      <a:endParaRPr sz="1000">
                        <a:solidFill>
                          <a:srgbClr val="2C3E5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C3E50"/>
                          </a:solidFill>
                        </a:rPr>
                        <a:t>OSV Scanner</a:t>
                      </a:r>
                      <a:endParaRPr sz="1000">
                        <a:solidFill>
                          <a:srgbClr val="2C3E5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C3E50"/>
                          </a:solidFill>
                        </a:rPr>
                        <a:t>Auditoria via lockfile e SBOM (Google OSV)</a:t>
                      </a:r>
                      <a:endParaRPr sz="1000">
                        <a:solidFill>
                          <a:srgbClr val="2C3E5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C3E50"/>
                          </a:solidFill>
                        </a:rPr>
                        <a:t>7 CVEs</a:t>
                      </a:r>
                      <a:endParaRPr sz="1000">
                        <a:solidFill>
                          <a:srgbClr val="2C3E5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C0392B"/>
                          </a:solidFill>
                        </a:rPr>
                        <a:t>não detectado</a:t>
                      </a:r>
                      <a:endParaRPr sz="1000">
                        <a:solidFill>
                          <a:srgbClr val="C0392B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3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C3E50"/>
                          </a:solidFill>
                        </a:rPr>
                        <a:t>T3c: SCA comercial</a:t>
                      </a:r>
                      <a:endParaRPr sz="1000">
                        <a:solidFill>
                          <a:srgbClr val="2C3E5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C3E50"/>
                          </a:solidFill>
                        </a:rPr>
                        <a:t>Snyk</a:t>
                      </a:r>
                      <a:endParaRPr sz="1000">
                        <a:solidFill>
                          <a:srgbClr val="2C3E5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C3E50"/>
                          </a:solidFill>
                        </a:rPr>
                        <a:t>Auditoria via DB proprietária</a:t>
                      </a:r>
                      <a:endParaRPr sz="1000">
                        <a:solidFill>
                          <a:srgbClr val="2C3E5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C3E50"/>
                          </a:solidFill>
                        </a:rPr>
                        <a:t>9 CVEs</a:t>
                      </a:r>
                      <a:endParaRPr sz="1000">
                        <a:solidFill>
                          <a:srgbClr val="2C3E5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C0392B"/>
                          </a:solidFill>
                        </a:rPr>
                        <a:t>não detectado</a:t>
                      </a:r>
                      <a:endParaRPr sz="1000">
                        <a:solidFill>
                          <a:srgbClr val="C0392B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3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C3E50"/>
                          </a:solidFill>
                        </a:rPr>
                        <a:t>T4: Comportamental</a:t>
                      </a:r>
                      <a:endParaRPr sz="1000">
                        <a:solidFill>
                          <a:srgbClr val="2C3E5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C3E50"/>
                          </a:solidFill>
                        </a:rPr>
                        <a:t>Socket.dev</a:t>
                      </a:r>
                      <a:endParaRPr sz="1000">
                        <a:solidFill>
                          <a:srgbClr val="2C3E5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C3E50"/>
                          </a:solidFill>
                        </a:rPr>
                        <a:t>Analisa padrões suspeitos em pacotes públicos</a:t>
                      </a:r>
                      <a:endParaRPr sz="1000">
                        <a:solidFill>
                          <a:srgbClr val="2C3E5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C3E50"/>
                          </a:solidFill>
                        </a:rPr>
                        <a:t>7 CVEs</a:t>
                      </a:r>
                      <a:endParaRPr sz="1000">
                        <a:solidFill>
                          <a:srgbClr val="2C3E5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C0392B"/>
                          </a:solidFill>
                        </a:rPr>
                        <a:t>não detectado *</a:t>
                      </a:r>
                      <a:endParaRPr sz="1000">
                        <a:solidFill>
                          <a:srgbClr val="C0392B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3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C3E50"/>
                          </a:solidFill>
                        </a:rPr>
                        <a:t>T5: Arquitetural</a:t>
                      </a:r>
                      <a:endParaRPr sz="1000">
                        <a:solidFill>
                          <a:srgbClr val="2C3E50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C3E50"/>
                          </a:solidFill>
                        </a:rPr>
                        <a:t>pnpm v10</a:t>
                      </a:r>
                      <a:endParaRPr sz="1000">
                        <a:solidFill>
                          <a:srgbClr val="2C3E50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C3E50"/>
                          </a:solidFill>
                        </a:rPr>
                        <a:t>Bloqueia lifecycle scripts por defeito</a:t>
                      </a:r>
                      <a:endParaRPr sz="1000">
                        <a:solidFill>
                          <a:srgbClr val="2C3E50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C3E50"/>
                          </a:solidFill>
                        </a:rPr>
                        <a:t>instalado</a:t>
                      </a:r>
                      <a:endParaRPr sz="1000">
                        <a:solidFill>
                          <a:srgbClr val="2C3E50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b="1">
                          <a:solidFill>
                            <a:srgbClr val="27AE60"/>
                          </a:solidFill>
                        </a:rPr>
                        <a:t>BLOQUEADO</a:t>
                      </a:r>
                      <a:endParaRPr sz="1000" b="1">
                        <a:solidFill>
                          <a:srgbClr val="27AE60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3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C3E50"/>
                          </a:solidFill>
                        </a:rPr>
                        <a:t>T6: Monitorização</a:t>
                      </a:r>
                      <a:endParaRPr sz="1000">
                        <a:solidFill>
                          <a:srgbClr val="2C3E5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C3E50"/>
                          </a:solidFill>
                        </a:rPr>
                        <a:t>Dependency-Track</a:t>
                      </a:r>
                      <a:endParaRPr sz="1000">
                        <a:solidFill>
                          <a:srgbClr val="2C3E5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C3E50"/>
                          </a:solidFill>
                        </a:rPr>
                        <a:t>Alertas via SBOM sem novo scan</a:t>
                      </a:r>
                      <a:endParaRPr sz="1000">
                        <a:solidFill>
                          <a:srgbClr val="2C3E5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C3E50"/>
                          </a:solidFill>
                        </a:rPr>
                        <a:t>7 CVEs</a:t>
                      </a:r>
                      <a:endParaRPr sz="1000">
                        <a:solidFill>
                          <a:srgbClr val="2C3E5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C0392B"/>
                          </a:solidFill>
                        </a:rPr>
                        <a:t>não detectado</a:t>
                      </a:r>
                      <a:endParaRPr sz="1000">
                        <a:solidFill>
                          <a:srgbClr val="C0392B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9" name="Google Shape;99;p18"/>
          <p:cNvSpPr txBox="1"/>
          <p:nvPr/>
        </p:nvSpPr>
        <p:spPr>
          <a:xfrm>
            <a:off x="7513425" y="2309800"/>
            <a:ext cx="1505700" cy="14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i="1">
                <a:solidFill>
                  <a:srgbClr val="2C3E50"/>
                </a:solidFill>
              </a:rPr>
              <a:t>* Socket.dev: limitado a pacotes do registry público. O pacote demo estava num Verdaccio privado.</a:t>
            </a:r>
            <a:endParaRPr sz="1100" i="1">
              <a:solidFill>
                <a:srgbClr val="2C3E50"/>
              </a:solidFill>
            </a:endParaRPr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6214" y="189475"/>
            <a:ext cx="1505711" cy="758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" name="Google Shape;101;p18"/>
          <p:cNvCxnSpPr/>
          <p:nvPr/>
        </p:nvCxnSpPr>
        <p:spPr>
          <a:xfrm rot="10800000" flipH="1">
            <a:off x="7232700" y="3372150"/>
            <a:ext cx="488100" cy="4656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/>
        </p:nvSpPr>
        <p:spPr>
          <a:xfrm>
            <a:off x="381000" y="228600"/>
            <a:ext cx="83820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1">
                <a:solidFill>
                  <a:srgbClr val="2C3E50"/>
                </a:solidFill>
              </a:rPr>
              <a:t>Do Laboratório ao Protótipo </a:t>
            </a:r>
            <a:br>
              <a:rPr lang="pt-BR" sz="2600" b="1">
                <a:solidFill>
                  <a:srgbClr val="2C3E50"/>
                </a:solidFill>
              </a:rPr>
            </a:br>
            <a:r>
              <a:rPr lang="pt-BR" sz="2100" b="1">
                <a:solidFill>
                  <a:srgbClr val="2C3E50"/>
                </a:solidFill>
              </a:rPr>
              <a:t>Pipeline em 3 Camadas</a:t>
            </a:r>
            <a:endParaRPr sz="2100" b="1">
              <a:solidFill>
                <a:srgbClr val="2C3E50"/>
              </a:solidFill>
            </a:endParaRPr>
          </a:p>
        </p:txBody>
      </p:sp>
      <p:graphicFrame>
        <p:nvGraphicFramePr>
          <p:cNvPr id="114" name="Google Shape;114;p20"/>
          <p:cNvGraphicFramePr/>
          <p:nvPr/>
        </p:nvGraphicFramePr>
        <p:xfrm>
          <a:off x="635000" y="1397000"/>
          <a:ext cx="7874025" cy="2794000"/>
        </p:xfrm>
        <a:graphic>
          <a:graphicData uri="http://schemas.openxmlformats.org/drawingml/2006/table">
            <a:tbl>
              <a:tblPr>
                <a:noFill/>
                <a:tableStyleId>{FDA03B60-1E1E-4555-96C5-48BB92776C77}</a:tableStyleId>
              </a:tblPr>
              <a:tblGrid>
                <a:gridCol w="2624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4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4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1">
                          <a:solidFill>
                            <a:srgbClr val="FFFFFF"/>
                          </a:solidFill>
                        </a:rPr>
                        <a:t>Camada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1">
                          <a:solidFill>
                            <a:srgbClr val="FFFFFF"/>
                          </a:solidFill>
                        </a:rPr>
                        <a:t>Ferramenta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1">
                          <a:solidFill>
                            <a:srgbClr val="FFFFFF"/>
                          </a:solidFill>
                        </a:rPr>
                        <a:t>Evidência do lab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1">
                          <a:solidFill>
                            <a:srgbClr val="FFFFFF"/>
                          </a:solidFill>
                        </a:rPr>
                        <a:t>Prevenir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2C3E50"/>
                          </a:solidFill>
                        </a:rPr>
                        <a:t>pnpm --ignore-scripts</a:t>
                      </a:r>
                      <a:endParaRPr sz="1100">
                        <a:solidFill>
                          <a:srgbClr val="2C3E5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2C3E50"/>
                          </a:solidFill>
                        </a:rPr>
                        <a:t>T5 — único a bloquear o zero-day</a:t>
                      </a:r>
                      <a:endParaRPr sz="1100">
                        <a:solidFill>
                          <a:srgbClr val="2C3E5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1">
                          <a:solidFill>
                            <a:srgbClr val="FFFFFF"/>
                          </a:solidFill>
                        </a:rPr>
                        <a:t>Detectar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2C3E50"/>
                          </a:solidFill>
                        </a:rPr>
                        <a:t>OSV Scanner + Syft SBOM</a:t>
                      </a:r>
                      <a:endParaRPr sz="1100">
                        <a:solidFill>
                          <a:srgbClr val="2C3E5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2C3E50"/>
                          </a:solidFill>
                        </a:rPr>
                        <a:t>T3b — open source, gratuito, multi-fonte</a:t>
                      </a:r>
                      <a:endParaRPr sz="1100">
                        <a:solidFill>
                          <a:srgbClr val="2C3E5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1">
                          <a:solidFill>
                            <a:srgbClr val="FFFFFF"/>
                          </a:solidFill>
                        </a:rPr>
                        <a:t>Monitorizar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2C3E50"/>
                          </a:solidFill>
                        </a:rPr>
                        <a:t>Dependency-Track</a:t>
                      </a:r>
                      <a:endParaRPr sz="1100">
                        <a:solidFill>
                          <a:srgbClr val="2C3E5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2C3E50"/>
                          </a:solidFill>
                        </a:rPr>
                        <a:t>T6 — alertas contínuos pós-deploy</a:t>
                      </a:r>
                      <a:endParaRPr sz="1100">
                        <a:solidFill>
                          <a:srgbClr val="2C3E5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5" name="Google Shape;115;p20"/>
          <p:cNvSpPr txBox="1"/>
          <p:nvPr/>
        </p:nvSpPr>
        <p:spPr>
          <a:xfrm>
            <a:off x="635000" y="4445000"/>
            <a:ext cx="7874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2C3E50"/>
                </a:solidFill>
              </a:rPr>
              <a:t>Excluídos: Snyk (freemium com limites), npm audit (substituído pelo OSV Scanner), Socket.dev (cobertura parcial em registries privados).</a:t>
            </a:r>
            <a:endParaRPr sz="1300">
              <a:solidFill>
                <a:srgbClr val="2C3E50"/>
              </a:solidFill>
            </a:endParaRPr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6214" y="189475"/>
            <a:ext cx="1505711" cy="7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/>
        </p:nvSpPr>
        <p:spPr>
          <a:xfrm>
            <a:off x="381000" y="228600"/>
            <a:ext cx="83820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1">
                <a:solidFill>
                  <a:srgbClr val="2C3E50"/>
                </a:solidFill>
              </a:rPr>
              <a:t>Demonstração: Pipeline em Acção</a:t>
            </a:r>
            <a:endParaRPr sz="2600" b="1">
              <a:solidFill>
                <a:srgbClr val="2C3E50"/>
              </a:solidFill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635000" y="1143000"/>
            <a:ext cx="7874100" cy="43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2C3E50"/>
                </a:solidFill>
              </a:rPr>
              <a:t>1. </a:t>
            </a:r>
            <a:r>
              <a:rPr lang="pt-BR" b="1">
                <a:solidFill>
                  <a:srgbClr val="C0392B"/>
                </a:solidFill>
              </a:rPr>
              <a:t>PROBLEMA DETECTADO</a:t>
            </a:r>
            <a:endParaRPr b="1">
              <a:solidFill>
                <a:srgbClr val="C0392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2C3E50"/>
                </a:solidFill>
              </a:rPr>
              <a:t>Branch </a:t>
            </a:r>
            <a:r>
              <a:rPr lang="pt-BR" err="1">
                <a:solidFill>
                  <a:srgbClr val="2C3E50"/>
                </a:solidFill>
              </a:rPr>
              <a:t>main</a:t>
            </a:r>
            <a:r>
              <a:rPr lang="pt-BR">
                <a:solidFill>
                  <a:srgbClr val="2C3E50"/>
                </a:solidFill>
              </a:rPr>
              <a:t> — lodash@4.17.11 — OSV Scanner detecta 7 </a:t>
            </a:r>
            <a:r>
              <a:rPr lang="pt-BR" err="1">
                <a:solidFill>
                  <a:srgbClr val="2C3E50"/>
                </a:solidFill>
              </a:rPr>
              <a:t>CVEs</a:t>
            </a:r>
            <a:endParaRPr err="1">
              <a:solidFill>
                <a:srgbClr val="2C3E5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2C3E50"/>
                </a:solidFill>
              </a:rPr>
              <a:t>GitHub </a:t>
            </a:r>
            <a:r>
              <a:rPr lang="pt-BR" err="1">
                <a:solidFill>
                  <a:srgbClr val="2C3E50"/>
                </a:solidFill>
              </a:rPr>
              <a:t>Issue</a:t>
            </a:r>
            <a:r>
              <a:rPr lang="pt-BR">
                <a:solidFill>
                  <a:srgbClr val="2C3E50"/>
                </a:solidFill>
              </a:rPr>
              <a:t> criada automaticamente — pipeline falha com </a:t>
            </a:r>
            <a:r>
              <a:rPr lang="pt-BR" err="1">
                <a:solidFill>
                  <a:srgbClr val="2C3E50"/>
                </a:solidFill>
              </a:rPr>
              <a:t>exit</a:t>
            </a:r>
            <a:r>
              <a:rPr lang="pt-BR">
                <a:solidFill>
                  <a:srgbClr val="2C3E50"/>
                </a:solidFill>
              </a:rPr>
              <a:t> 1</a:t>
            </a:r>
            <a:endParaRPr>
              <a:solidFill>
                <a:srgbClr val="2C3E5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C3E5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2C3E50"/>
                </a:solidFill>
              </a:rPr>
              <a:t>2. </a:t>
            </a:r>
            <a:r>
              <a:rPr lang="pt-BR" b="1">
                <a:solidFill>
                  <a:srgbClr val="27AE60"/>
                </a:solidFill>
              </a:rPr>
              <a:t>CORRECÇÃO APLICADA</a:t>
            </a:r>
            <a:endParaRPr b="1">
              <a:solidFill>
                <a:srgbClr val="27AE6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2C3E50"/>
                </a:solidFill>
              </a:rPr>
              <a:t>Branch </a:t>
            </a:r>
            <a:r>
              <a:rPr lang="pt-BR" err="1">
                <a:solidFill>
                  <a:srgbClr val="2C3E50"/>
                </a:solidFill>
              </a:rPr>
              <a:t>fix-test</a:t>
            </a:r>
            <a:r>
              <a:rPr lang="pt-BR">
                <a:solidFill>
                  <a:srgbClr val="2C3E50"/>
                </a:solidFill>
              </a:rPr>
              <a:t> — </a:t>
            </a:r>
            <a:r>
              <a:rPr lang="pt-BR" err="1">
                <a:solidFill>
                  <a:srgbClr val="2C3E50"/>
                </a:solidFill>
              </a:rPr>
              <a:t>lodash</a:t>
            </a:r>
            <a:r>
              <a:rPr lang="pt-BR">
                <a:solidFill>
                  <a:srgbClr val="2C3E50"/>
                </a:solidFill>
              </a:rPr>
              <a:t> ^4.18.0 — zero </a:t>
            </a:r>
            <a:r>
              <a:rPr lang="pt-BR" err="1">
                <a:solidFill>
                  <a:srgbClr val="2C3E50"/>
                </a:solidFill>
              </a:rPr>
              <a:t>CVEs</a:t>
            </a:r>
            <a:r>
              <a:rPr lang="pt-BR">
                <a:solidFill>
                  <a:srgbClr val="2C3E50"/>
                </a:solidFill>
              </a:rPr>
              <a:t> detectados</a:t>
            </a:r>
            <a:endParaRPr>
              <a:solidFill>
                <a:srgbClr val="2C3E5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2C3E50"/>
                </a:solidFill>
              </a:rPr>
              <a:t>Pipeline passa — </a:t>
            </a:r>
            <a:r>
              <a:rPr lang="pt-BR" err="1">
                <a:solidFill>
                  <a:srgbClr val="2C3E50"/>
                </a:solidFill>
              </a:rPr>
              <a:t>issue</a:t>
            </a:r>
            <a:r>
              <a:rPr lang="pt-BR">
                <a:solidFill>
                  <a:srgbClr val="2C3E50"/>
                </a:solidFill>
              </a:rPr>
              <a:t> comentada como resolvida</a:t>
            </a:r>
            <a:endParaRPr>
              <a:solidFill>
                <a:srgbClr val="2C3E5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C3E5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2C3E50"/>
                </a:solidFill>
              </a:rPr>
              <a:t>3. </a:t>
            </a:r>
            <a:r>
              <a:rPr lang="pt-BR" b="1">
                <a:solidFill>
                  <a:srgbClr val="2980B9"/>
                </a:solidFill>
              </a:rPr>
              <a:t>DEPENDENCY-TRACK</a:t>
            </a:r>
            <a:endParaRPr b="1">
              <a:solidFill>
                <a:srgbClr val="2980B9"/>
              </a:solidFill>
            </a:endParaRPr>
          </a:p>
          <a:p>
            <a:r>
              <a:rPr lang="pt-BR">
                <a:solidFill>
                  <a:srgbClr val="2C3E50"/>
                </a:solidFill>
              </a:rPr>
              <a:t>Dashboard local — 2 </a:t>
            </a:r>
            <a:r>
              <a:rPr lang="pt-BR" err="1">
                <a:solidFill>
                  <a:srgbClr val="2C3E50"/>
                </a:solidFill>
              </a:rPr>
              <a:t>CVEs</a:t>
            </a:r>
            <a:r>
              <a:rPr lang="pt-BR">
                <a:solidFill>
                  <a:srgbClr val="2C3E50"/>
                </a:solidFill>
              </a:rPr>
              <a:t> CRITICAL destacados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2C3E50"/>
                </a:solidFill>
              </a:rPr>
              <a:t>Monitorização contínua sem novo </a:t>
            </a:r>
            <a:r>
              <a:rPr lang="pt-BR" err="1">
                <a:solidFill>
                  <a:srgbClr val="2C3E50"/>
                </a:solidFill>
              </a:rPr>
              <a:t>scan</a:t>
            </a:r>
            <a:r>
              <a:rPr lang="pt-BR">
                <a:solidFill>
                  <a:srgbClr val="2C3E50"/>
                </a:solidFill>
              </a:rPr>
              <a:t> necessário</a:t>
            </a:r>
            <a:endParaRPr>
              <a:solidFill>
                <a:srgbClr val="2C3E50"/>
              </a:solidFill>
            </a:endParaRPr>
          </a:p>
        </p:txBody>
      </p:sp>
      <p:sp>
        <p:nvSpPr>
          <p:cNvPr id="123" name="Google Shape;123;p21"/>
          <p:cNvSpPr txBox="1"/>
          <p:nvPr/>
        </p:nvSpPr>
        <p:spPr>
          <a:xfrm>
            <a:off x="635000" y="5715000"/>
            <a:ext cx="78741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i="1">
                <a:solidFill>
                  <a:srgbClr val="7F8C8D"/>
                </a:solidFill>
              </a:rPr>
              <a:t>[gravação de ecrã inserida aqui]</a:t>
            </a:r>
            <a:endParaRPr sz="1200" i="1">
              <a:solidFill>
                <a:srgbClr val="7F8C8D"/>
              </a:solidFill>
            </a:endParaRPr>
          </a:p>
        </p:txBody>
      </p:sp>
      <p:pic>
        <p:nvPicPr>
          <p:cNvPr id="124" name="Google Shape;1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6214" y="189475"/>
            <a:ext cx="1505711" cy="7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/>
        </p:nvSpPr>
        <p:spPr>
          <a:xfrm>
            <a:off x="381000" y="228600"/>
            <a:ext cx="83820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1">
                <a:solidFill>
                  <a:srgbClr val="2C3E50"/>
                </a:solidFill>
              </a:rPr>
              <a:t>Conclusões</a:t>
            </a:r>
            <a:endParaRPr sz="2600" b="1">
              <a:solidFill>
                <a:srgbClr val="2C3E50"/>
              </a:solidFill>
            </a:endParaRPr>
          </a:p>
        </p:txBody>
      </p:sp>
      <p:sp>
        <p:nvSpPr>
          <p:cNvPr id="130" name="Google Shape;130;p22"/>
          <p:cNvSpPr txBox="1"/>
          <p:nvPr/>
        </p:nvSpPr>
        <p:spPr>
          <a:xfrm>
            <a:off x="635000" y="1143000"/>
            <a:ext cx="7874100" cy="27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2C3E50"/>
                </a:solidFill>
              </a:rPr>
              <a:t>• Ferramentas reativas são necessárias mas insuficientes: todas falharam contra o ataque sem CVE registado</a:t>
            </a:r>
            <a:endParaRPr sz="1500">
              <a:solidFill>
                <a:srgbClr val="2C3E50"/>
              </a:solidFill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2C3E50"/>
              </a:solidFill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2C3E50"/>
                </a:solidFill>
              </a:rPr>
              <a:t>• A prevenção arquitectural é a única protecção eficaz contra ataques zero-day: pnpm bloqueou sem base de dados nem configuração adicional</a:t>
            </a:r>
            <a:endParaRPr sz="1500">
              <a:solidFill>
                <a:srgbClr val="2C3E50"/>
              </a:solidFill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2C3E50"/>
              </a:solidFill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2C3E50"/>
                </a:solidFill>
              </a:rPr>
              <a:t>• Defesa em profundidade significa camadas complementares, não acumulação de ferramentas</a:t>
            </a:r>
            <a:endParaRPr sz="1500">
              <a:solidFill>
                <a:srgbClr val="2C3E50"/>
              </a:solidFill>
            </a:endParaRPr>
          </a:p>
        </p:txBody>
      </p:sp>
      <p:cxnSp>
        <p:nvCxnSpPr>
          <p:cNvPr id="131" name="Google Shape;131;p22"/>
          <p:cNvCxnSpPr/>
          <p:nvPr/>
        </p:nvCxnSpPr>
        <p:spPr>
          <a:xfrm>
            <a:off x="635000" y="4191000"/>
            <a:ext cx="7874100" cy="0"/>
          </a:xfrm>
          <a:prstGeom prst="straightConnector1">
            <a:avLst/>
          </a:prstGeom>
          <a:noFill/>
          <a:ln w="9525" cap="flat" cmpd="sng">
            <a:solidFill>
              <a:srgbClr val="BDC3C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2" name="Google Shape;132;p22"/>
          <p:cNvSpPr txBox="1"/>
          <p:nvPr/>
        </p:nvSpPr>
        <p:spPr>
          <a:xfrm>
            <a:off x="634950" y="4371425"/>
            <a:ext cx="7874100" cy="6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2C3E50"/>
                </a:solidFill>
              </a:rPr>
              <a:t>"Não existe ferramenta única suficiente.</a:t>
            </a:r>
            <a:endParaRPr b="1">
              <a:solidFill>
                <a:srgbClr val="2C3E5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2C3E50"/>
                </a:solidFill>
              </a:rPr>
              <a:t>A resposta certa é prevenir, detectar e monitorizar — em camadas."</a:t>
            </a:r>
            <a:endParaRPr b="1">
              <a:solidFill>
                <a:srgbClr val="2C3E50"/>
              </a:solidFill>
            </a:endParaRPr>
          </a:p>
        </p:txBody>
      </p:sp>
      <p:pic>
        <p:nvPicPr>
          <p:cNvPr id="133" name="Google Shape;13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6214" y="189475"/>
            <a:ext cx="1505711" cy="7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9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2026-04-23T12:28:34Z</dcterms:modified>
</cp:coreProperties>
</file>